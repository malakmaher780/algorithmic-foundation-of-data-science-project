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sldIdLst>
    <p:sldId id="530" r:id="rId5"/>
    <p:sldId id="531" r:id="rId6"/>
    <p:sldId id="533" r:id="rId7"/>
    <p:sldId id="534" r:id="rId8"/>
    <p:sldId id="535" r:id="rId9"/>
    <p:sldId id="549" r:id="rId10"/>
    <p:sldId id="547" r:id="rId11"/>
    <p:sldId id="536" r:id="rId12"/>
    <p:sldId id="537" r:id="rId13"/>
    <p:sldId id="546" r:id="rId14"/>
    <p:sldId id="550" r:id="rId15"/>
    <p:sldId id="551" r:id="rId16"/>
    <p:sldId id="552" r:id="rId17"/>
    <p:sldId id="540" r:id="rId18"/>
    <p:sldId id="553" r:id="rId19"/>
    <p:sldId id="548" r:id="rId20"/>
    <p:sldId id="554" r:id="rId21"/>
    <p:sldId id="555" r:id="rId22"/>
    <p:sldId id="556" r:id="rId23"/>
    <p:sldId id="539" r:id="rId24"/>
    <p:sldId id="543" r:id="rId25"/>
    <p:sldId id="54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1FD"/>
    <a:srgbClr val="F1F0FE"/>
    <a:srgbClr val="534D53"/>
    <a:srgbClr val="5D56BF"/>
    <a:srgbClr val="8822EE"/>
    <a:srgbClr val="6600CC"/>
    <a:srgbClr val="102857"/>
    <a:srgbClr val="BA20DB"/>
    <a:srgbClr val="5E0E58"/>
    <a:srgbClr val="6A23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422"/>
  </p:normalViewPr>
  <p:slideViewPr>
    <p:cSldViewPr snapToGrid="0">
      <p:cViewPr varScale="1">
        <p:scale>
          <a:sx n="72" d="100"/>
          <a:sy n="72" d="100"/>
        </p:scale>
        <p:origin x="4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12/22/2025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C058E0-0852-DB43-83D6-BD76659FF1D8}" type="slidenum">
              <a:rPr lang="en-US" smtClean="0"/>
              <a:t>8</a:t>
            </a:fld>
            <a:endParaRPr lang="en-US" dirty="0"/>
          </a:p>
        </p:txBody>
      </p:sp>
    </p:spTree>
    <p:extLst>
      <p:ext uri="{BB962C8B-B14F-4D97-AF65-F5344CB8AC3E}">
        <p14:creationId xmlns:p14="http://schemas.microsoft.com/office/powerpoint/2010/main" val="407900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B8808-B56D-A602-8682-334365A1A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45D32-087E-A723-1ACD-86012F700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20828-D41E-487B-EA84-912BE1C40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ED3D7A-EA6D-3397-8A57-D2DCC6A09449}"/>
              </a:ext>
            </a:extLst>
          </p:cNvPr>
          <p:cNvSpPr>
            <a:spLocks noGrp="1"/>
          </p:cNvSpPr>
          <p:nvPr>
            <p:ph type="sldNum" sz="quarter" idx="5"/>
          </p:nvPr>
        </p:nvSpPr>
        <p:spPr/>
        <p:txBody>
          <a:bodyPr/>
          <a:lstStyle/>
          <a:p>
            <a:fld id="{23C058E0-0852-DB43-83D6-BD76659FF1D8}" type="slidenum">
              <a:rPr lang="en-US" smtClean="0"/>
              <a:t>18</a:t>
            </a:fld>
            <a:endParaRPr lang="en-US" dirty="0"/>
          </a:p>
        </p:txBody>
      </p:sp>
    </p:spTree>
    <p:extLst>
      <p:ext uri="{BB962C8B-B14F-4D97-AF65-F5344CB8AC3E}">
        <p14:creationId xmlns:p14="http://schemas.microsoft.com/office/powerpoint/2010/main" val="356154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effectLst>
                  <a:outerShdw blurRad="50800" dist="50800" dir="5400000" algn="ctr" rotWithShape="0">
                    <a:srgbClr val="BA20DB"/>
                  </a:outerShdw>
                </a:effectLst>
              </a:rPr>
              <a:t>Bank marketing campaign analysis</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a:xfrm>
            <a:off x="2670048" y="4286503"/>
            <a:ext cx="7068312" cy="964039"/>
          </a:xfrm>
        </p:spPr>
        <p:txBody>
          <a:bodyPr/>
          <a:lstStyle/>
          <a:p>
            <a:r>
              <a:rPr lang="en-US" dirty="0">
                <a:effectLst>
                  <a:outerShdw blurRad="50800" dist="50800" dir="5400000" algn="ctr" rotWithShape="0">
                    <a:srgbClr val="6600CC"/>
                  </a:outerShdw>
                </a:effectLst>
              </a:rPr>
              <a:t>Presented by: Sandra waheed , Malak Maher , </a:t>
            </a:r>
          </a:p>
          <a:p>
            <a:r>
              <a:rPr lang="en-US" dirty="0">
                <a:effectLst>
                  <a:outerShdw blurRad="50800" dist="50800" dir="5400000" algn="ctr" rotWithShape="0">
                    <a:srgbClr val="6600CC"/>
                  </a:outerShdw>
                </a:effectLst>
              </a:rPr>
              <a:t>Sham Mohamed , Mariam Ramadan</a:t>
            </a:r>
          </a:p>
          <a:p>
            <a:endParaRPr lang="en-US" dirty="0"/>
          </a:p>
        </p:txBody>
      </p:sp>
      <p:sp>
        <p:nvSpPr>
          <p:cNvPr id="6" name="TextBox 5">
            <a:extLst>
              <a:ext uri="{FF2B5EF4-FFF2-40B4-BE49-F238E27FC236}">
                <a16:creationId xmlns:a16="http://schemas.microsoft.com/office/drawing/2014/main" id="{9146B807-F2F6-46B2-F496-48CBA98F2796}"/>
              </a:ext>
            </a:extLst>
          </p:cNvPr>
          <p:cNvSpPr txBox="1"/>
          <p:nvPr/>
        </p:nvSpPr>
        <p:spPr>
          <a:xfrm>
            <a:off x="8824976" y="6388100"/>
            <a:ext cx="3367024" cy="368300"/>
          </a:xfrm>
          <a:prstGeom prst="rect">
            <a:avLst/>
          </a:prstGeom>
          <a:noFill/>
        </p:spPr>
        <p:txBody>
          <a:bodyPr wrap="square" rtlCol="0">
            <a:spAutoFit/>
          </a:bodyPr>
          <a:lstStyle/>
          <a:p>
            <a:r>
              <a:rPr lang="en-US" dirty="0">
                <a:solidFill>
                  <a:schemeClr val="bg1"/>
                </a:solidFill>
                <a:effectLst>
                  <a:outerShdw blurRad="50800" dist="50800" dir="5400000" algn="ctr" rotWithShape="0">
                    <a:srgbClr val="6600CC"/>
                  </a:outerShdw>
                </a:effectLst>
                <a:latin typeface="Aptos" panose="020B0004020202020204" pitchFamily="34" charset="0"/>
              </a:rPr>
              <a:t>Supervised by: Dr. Dalia Magdy</a:t>
            </a:r>
          </a:p>
        </p:txBody>
      </p:sp>
    </p:spTree>
    <p:extLst>
      <p:ext uri="{BB962C8B-B14F-4D97-AF65-F5344CB8AC3E}">
        <p14:creationId xmlns:p14="http://schemas.microsoft.com/office/powerpoint/2010/main" val="17234911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effectLst>
                  <a:outerShdw blurRad="50800" dist="50800" dir="5400000" algn="ctr" rotWithShape="0">
                    <a:srgbClr val="8822EE"/>
                  </a:outerShdw>
                </a:effectLst>
                <a:latin typeface="Tw Cen MT" panose="020B0602020104020603" pitchFamily="34" charset="77"/>
              </a:rPr>
              <a:t>CONTENTS</a:t>
            </a:r>
            <a:endParaRPr lang="en-US" dirty="0">
              <a:effectLst>
                <a:outerShdw blurRad="50800" dist="50800" dir="5400000" algn="ctr" rotWithShape="0">
                  <a:srgbClr val="8822EE"/>
                </a:outerShdw>
              </a:effectLst>
            </a:endParaRP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36192" y="2212848"/>
            <a:ext cx="6422136" cy="4024666"/>
          </a:xfrm>
        </p:spPr>
        <p:txBody>
          <a:bodyPr/>
          <a:lstStyle/>
          <a:p>
            <a:pPr marL="342900" indent="-342900"/>
            <a:r>
              <a:rPr lang="en-US" dirty="0">
                <a:latin typeface="Segoe UI Light" panose="020B0502040204020203" pitchFamily="34" charset="0"/>
                <a:cs typeface="Segoe UI Light" panose="020B0502040204020203" pitchFamily="34" charset="0"/>
              </a:rPr>
              <a:t>Introduction</a:t>
            </a:r>
          </a:p>
          <a:p>
            <a:pPr marL="342900" indent="-342900"/>
            <a:r>
              <a:rPr lang="en-US" dirty="0"/>
              <a:t>Data &amp; Target Variable</a:t>
            </a:r>
            <a:endParaRPr lang="en-US" dirty="0">
              <a:solidFill>
                <a:schemeClr val="bg1"/>
              </a:solidFill>
              <a:latin typeface="Segoe UI Light" panose="020B0502040204020203" pitchFamily="34" charset="0"/>
              <a:cs typeface="Segoe UI Light" panose="020B0502040204020203" pitchFamily="34" charset="0"/>
            </a:endParaRPr>
          </a:p>
          <a:p>
            <a:pPr marL="342900" indent="-342900"/>
            <a:r>
              <a:rPr lang="en-US" dirty="0"/>
              <a:t>Preprocessing &amp; Data Balancing</a:t>
            </a:r>
          </a:p>
          <a:p>
            <a:pPr marL="342900" indent="-342900"/>
            <a:r>
              <a:rPr lang="en-US" dirty="0"/>
              <a:t>Models &amp; Evaluation</a:t>
            </a:r>
          </a:p>
          <a:p>
            <a:pPr marL="342900" indent="-342900"/>
            <a:r>
              <a:rPr lang="en-US" dirty="0"/>
              <a:t>Results &amp; Conclusion</a:t>
            </a:r>
          </a:p>
          <a:p>
            <a:pPr marL="342900" indent="-342900"/>
            <a:r>
              <a:rPr lang="en-US" dirty="0">
                <a:solidFill>
                  <a:schemeClr val="bg1"/>
                </a:solidFill>
                <a:latin typeface="Segoe UI Light" panose="020B0502040204020203" pitchFamily="34" charset="0"/>
                <a:cs typeface="Segoe UI Light" panose="020B0502040204020203" pitchFamily="34" charset="0"/>
              </a:rPr>
              <a:t>Summary</a:t>
            </a:r>
          </a:p>
        </p:txBody>
      </p:sp>
    </p:spTree>
    <p:extLst>
      <p:ext uri="{BB962C8B-B14F-4D97-AF65-F5344CB8AC3E}">
        <p14:creationId xmlns:p14="http://schemas.microsoft.com/office/powerpoint/2010/main" val="354802708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dirty="0">
                <a:effectLst>
                  <a:outerShdw blurRad="50800" dist="50800" dir="5400000" algn="ctr" rotWithShape="0">
                    <a:srgbClr val="00B0F0"/>
                  </a:outerShdw>
                </a:effectLst>
              </a:rPr>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2228088" y="3755570"/>
            <a:ext cx="7735824" cy="1937659"/>
          </a:xfrm>
        </p:spPr>
        <p:txBody>
          <a:bodyPr/>
          <a:lstStyle/>
          <a:p>
            <a:r>
              <a:rPr lang="en-US" sz="2200" dirty="0">
                <a:latin typeface="+mj-lt"/>
              </a:rPr>
              <a:t>This project analyzes a bank marketing campaign dataset where customers were contacted by phone to subscribe to a term deposit. </a:t>
            </a:r>
          </a:p>
          <a:p>
            <a:r>
              <a:rPr lang="en-US" sz="2200" dirty="0">
                <a:latin typeface="+mj-lt"/>
              </a:rPr>
              <a:t>The goal is to use machine learning to predict which customers are most likely to say “Yes”, allowing the bank to focus calls only on promising clients.</a:t>
            </a:r>
          </a:p>
        </p:txBody>
      </p:sp>
    </p:spTree>
    <p:extLst>
      <p:ext uri="{BB962C8B-B14F-4D97-AF65-F5344CB8AC3E}">
        <p14:creationId xmlns:p14="http://schemas.microsoft.com/office/powerpoint/2010/main" val="338075988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a:xfrm>
            <a:off x="1524000" y="1831522"/>
            <a:ext cx="9144000" cy="1118507"/>
          </a:xfrm>
        </p:spPr>
        <p:txBody>
          <a:bodyPr/>
          <a:lstStyle/>
          <a:p>
            <a:r>
              <a:rPr lang="en-US" dirty="0">
                <a:effectLst>
                  <a:outerShdw blurRad="50800" dist="50800" dir="5400000" algn="ctr" rotWithShape="0">
                    <a:srgbClr val="6F22E3"/>
                  </a:outerShdw>
                </a:effectLst>
              </a:rPr>
              <a:t>Objective &amp; Goal</a:t>
            </a:r>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a:xfrm>
            <a:off x="2561844" y="3646714"/>
            <a:ext cx="7068312" cy="2800351"/>
          </a:xfrm>
        </p:spPr>
        <p:txBody>
          <a:bodyPr/>
          <a:lstStyle/>
          <a:p>
            <a:r>
              <a:rPr lang="en-US" dirty="0"/>
              <a:t>• Phone calls are expensive and time-consuming</a:t>
            </a:r>
          </a:p>
          <a:p>
            <a:r>
              <a:rPr lang="en-US" dirty="0"/>
              <a:t>• Most customers respond with “No”</a:t>
            </a:r>
          </a:p>
          <a:p>
            <a:r>
              <a:rPr lang="en-US" dirty="0"/>
              <a:t>• Random calling wastes resources and annoys customers</a:t>
            </a:r>
          </a:p>
          <a:p>
            <a:r>
              <a:rPr lang="en-US" b="1" dirty="0">
                <a:effectLst>
                  <a:outerShdw blurRad="50800" dist="50800" dir="5400000" algn="ctr" rotWithShape="0">
                    <a:srgbClr val="6F22E3"/>
                  </a:outerShdw>
                </a:effectLst>
                <a:latin typeface="Arial" panose="020B0604020202020204" pitchFamily="34" charset="0"/>
                <a:cs typeface="Arial" panose="020B0604020202020204" pitchFamily="34" charset="0"/>
              </a:rPr>
              <a:t>Objective: Build an AI model to predict customer response and improve campaign efficiency</a:t>
            </a:r>
            <a:r>
              <a:rPr lang="en-US" dirty="0">
                <a:effectLst>
                  <a:outerShdw blurRad="50800" dist="50800" dir="5400000" algn="ctr" rotWithShape="0">
                    <a:srgbClr val="6F22E3"/>
                  </a:outerShdw>
                </a:effectLst>
              </a:rPr>
              <a:t>.</a:t>
            </a:r>
          </a:p>
        </p:txBody>
      </p:sp>
    </p:spTree>
    <p:extLst>
      <p:ext uri="{BB962C8B-B14F-4D97-AF65-F5344CB8AC3E}">
        <p14:creationId xmlns:p14="http://schemas.microsoft.com/office/powerpoint/2010/main" val="54847629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850392" y="411480"/>
            <a:ext cx="10881360" cy="1047206"/>
          </a:xfrm>
        </p:spPr>
        <p:txBody>
          <a:bodyPr/>
          <a:lstStyle/>
          <a:p>
            <a:r>
              <a:rPr lang="en-US" sz="4000" b="1" spc="600" dirty="0">
                <a:ln w="28575">
                  <a:noFill/>
                  <a:prstDash val="solid"/>
                </a:ln>
                <a:solidFill>
                  <a:schemeClr val="bg1"/>
                </a:solidFill>
                <a:effectLst>
                  <a:outerShdw blurRad="50800" dist="50800" dir="5400000" algn="ctr" rotWithShape="0">
                    <a:srgbClr val="2F21F3"/>
                  </a:outerShdw>
                </a:effectLst>
                <a:latin typeface="Tw Cen MT" panose="020B0602020104020603" pitchFamily="34" charset="77"/>
              </a:rPr>
              <a:t>Dataset overview</a:t>
            </a: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7" name="Content Placeholder 6">
            <a:extLst>
              <a:ext uri="{FF2B5EF4-FFF2-40B4-BE49-F238E27FC236}">
                <a16:creationId xmlns:a16="http://schemas.microsoft.com/office/drawing/2014/main" id="{09A5FBCE-5F1F-B74D-D05C-021B8CE5B294}"/>
              </a:ext>
            </a:extLst>
          </p:cNvPr>
          <p:cNvSpPr>
            <a:spLocks noGrp="1"/>
          </p:cNvSpPr>
          <p:nvPr>
            <p:ph idx="1"/>
          </p:nvPr>
        </p:nvSpPr>
        <p:spPr>
          <a:xfrm>
            <a:off x="1014984" y="1589315"/>
            <a:ext cx="10332720" cy="4441372"/>
          </a:xfrm>
        </p:spPr>
        <p:txBody>
          <a:bodyPr/>
          <a:lstStyle/>
          <a:p>
            <a:pPr marL="457200" indent="-457200">
              <a:buFont typeface="Wingdings" panose="05000000000000000000" pitchFamily="2" charset="2"/>
              <a:buChar char="Ø"/>
            </a:pPr>
            <a:r>
              <a:rPr lang="en-US" dirty="0"/>
              <a:t>The dataset contains 45,211 records with customer and campaign information, such as: </a:t>
            </a:r>
          </a:p>
          <a:p>
            <a:pPr marL="457200" indent="-457200"/>
            <a:r>
              <a:rPr lang="en-US" dirty="0"/>
              <a:t> Age, job, education</a:t>
            </a:r>
          </a:p>
          <a:p>
            <a:r>
              <a:rPr lang="en-US" dirty="0"/>
              <a:t>Housing loan &amp; personal loan status• Contact type (cellular, telephone)</a:t>
            </a:r>
          </a:p>
          <a:p>
            <a:r>
              <a:rPr lang="en-US" dirty="0"/>
              <a:t> Call duration</a:t>
            </a:r>
          </a:p>
          <a:p>
            <a:r>
              <a:rPr lang="en-US" dirty="0"/>
              <a:t> Previous campaign outcome (</a:t>
            </a:r>
            <a:r>
              <a:rPr lang="en-US" dirty="0" err="1"/>
              <a:t>poutcome</a:t>
            </a:r>
            <a:r>
              <a:rPr lang="en-US" dirty="0"/>
              <a:t>)</a:t>
            </a:r>
          </a:p>
          <a:p>
            <a:r>
              <a:rPr lang="en-US" dirty="0"/>
              <a:t>Example insight from data: • Longer call duration strongly increases the chance of a “Yes”.</a:t>
            </a:r>
          </a:p>
        </p:txBody>
      </p:sp>
    </p:spTree>
    <p:extLst>
      <p:ext uri="{BB962C8B-B14F-4D97-AF65-F5344CB8AC3E}">
        <p14:creationId xmlns:p14="http://schemas.microsoft.com/office/powerpoint/2010/main" val="137265191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84A8-665E-5928-44A8-38058F2B5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69199-33BE-9A57-5AE4-648CB63763D4}"/>
              </a:ext>
            </a:extLst>
          </p:cNvPr>
          <p:cNvSpPr>
            <a:spLocks noGrp="1"/>
          </p:cNvSpPr>
          <p:nvPr>
            <p:ph type="title"/>
          </p:nvPr>
        </p:nvSpPr>
        <p:spPr>
          <a:xfrm>
            <a:off x="1349829" y="411480"/>
            <a:ext cx="9108729" cy="1176020"/>
          </a:xfrm>
        </p:spPr>
        <p:txBody>
          <a:bodyPr>
            <a:normAutofit/>
          </a:bodyPr>
          <a:lstStyle/>
          <a:p>
            <a:r>
              <a:rPr lang="en-US" sz="4000" b="1" spc="600" dirty="0">
                <a:ln w="28575">
                  <a:noFill/>
                  <a:prstDash val="solid"/>
                </a:ln>
                <a:solidFill>
                  <a:schemeClr val="bg1"/>
                </a:solidFill>
                <a:effectLst>
                  <a:outerShdw blurRad="50800" dist="50800" dir="5400000" algn="ctr" rotWithShape="0">
                    <a:srgbClr val="6F22E3"/>
                  </a:outerShdw>
                </a:effectLst>
                <a:latin typeface="Tw Cen MT" panose="020B0602020104020603" pitchFamily="34" charset="77"/>
              </a:rPr>
              <a:t>Target variable</a:t>
            </a:r>
            <a:endParaRPr lang="en-US" dirty="0">
              <a:effectLst>
                <a:outerShdw blurRad="50800" dist="50800" dir="5400000" algn="ctr" rotWithShape="0">
                  <a:srgbClr val="6F22E3"/>
                </a:outerShdw>
              </a:effectLst>
            </a:endParaRPr>
          </a:p>
        </p:txBody>
      </p:sp>
      <p:sp>
        <p:nvSpPr>
          <p:cNvPr id="5" name="Slide Number Placeholder 4">
            <a:extLst>
              <a:ext uri="{FF2B5EF4-FFF2-40B4-BE49-F238E27FC236}">
                <a16:creationId xmlns:a16="http://schemas.microsoft.com/office/drawing/2014/main" id="{F5365CEE-AD7B-E13F-7403-AD20E39EE199}"/>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Content Placeholder 2">
            <a:extLst>
              <a:ext uri="{FF2B5EF4-FFF2-40B4-BE49-F238E27FC236}">
                <a16:creationId xmlns:a16="http://schemas.microsoft.com/office/drawing/2014/main" id="{EE09F613-E3AF-0CBA-68F8-E360DFD8F2B8}"/>
              </a:ext>
            </a:extLst>
          </p:cNvPr>
          <p:cNvSpPr>
            <a:spLocks noGrp="1"/>
          </p:cNvSpPr>
          <p:nvPr>
            <p:ph idx="1"/>
          </p:nvPr>
        </p:nvSpPr>
        <p:spPr>
          <a:xfrm>
            <a:off x="1066800" y="1701801"/>
            <a:ext cx="8878824" cy="4744719"/>
          </a:xfrm>
        </p:spPr>
        <p:txBody>
          <a:bodyPr/>
          <a:lstStyle/>
          <a:p>
            <a:pPr>
              <a:buFont typeface="Wingdings" panose="05000000000000000000" pitchFamily="2" charset="2"/>
              <a:buChar char="Ø"/>
            </a:pPr>
            <a:r>
              <a:rPr lang="en-US" dirty="0"/>
              <a:t>Target variable: </a:t>
            </a:r>
            <a:r>
              <a:rPr lang="en-US" b="1" dirty="0"/>
              <a:t>y</a:t>
            </a:r>
            <a:r>
              <a:rPr lang="en-US" dirty="0">
                <a:solidFill>
                  <a:schemeClr val="bg1"/>
                </a:solidFill>
                <a:latin typeface="Segoe UI Light" panose="020B0502040204020203" pitchFamily="34" charset="0"/>
                <a:cs typeface="Segoe UI Light" panose="020B0502040204020203" pitchFamily="34" charset="0"/>
              </a:rPr>
              <a:t> </a:t>
            </a:r>
          </a:p>
          <a:p>
            <a:r>
              <a:rPr lang="en-US" dirty="0">
                <a:solidFill>
                  <a:schemeClr val="bg1"/>
                </a:solidFill>
                <a:latin typeface="Segoe UI Light" panose="020B0502040204020203" pitchFamily="34" charset="0"/>
                <a:cs typeface="Segoe UI Light" panose="020B0502040204020203" pitchFamily="34" charset="0"/>
              </a:rPr>
              <a:t>Yes </a:t>
            </a:r>
            <a:r>
              <a:rPr lang="en-US" dirty="0"/>
              <a:t>→ Customer subscribes to term deposit</a:t>
            </a:r>
          </a:p>
          <a:p>
            <a:r>
              <a:rPr lang="en-US" dirty="0">
                <a:solidFill>
                  <a:schemeClr val="bg1"/>
                </a:solidFill>
                <a:latin typeface="Segoe UI Light" panose="020B0502040204020203" pitchFamily="34" charset="0"/>
                <a:cs typeface="Segoe UI Light" panose="020B0502040204020203" pitchFamily="34" charset="0"/>
              </a:rPr>
              <a:t>No </a:t>
            </a:r>
            <a:r>
              <a:rPr lang="en-US" dirty="0"/>
              <a:t>→ Customer does not subscribe</a:t>
            </a:r>
          </a:p>
          <a:p>
            <a:pPr>
              <a:buFont typeface="Wingdings" panose="05000000000000000000" pitchFamily="2" charset="2"/>
              <a:buChar char="Ø"/>
            </a:pPr>
            <a:r>
              <a:rPr lang="en-US" dirty="0"/>
              <a:t>Dataset is </a:t>
            </a:r>
            <a:r>
              <a:rPr lang="en-US" b="1" dirty="0"/>
              <a:t>highly imbalanced</a:t>
            </a:r>
          </a:p>
          <a:p>
            <a:r>
              <a:rPr lang="en-US" dirty="0">
                <a:solidFill>
                  <a:schemeClr val="bg1"/>
                </a:solidFill>
                <a:latin typeface="Segoe UI Light" panose="020B0502040204020203" pitchFamily="34" charset="0"/>
                <a:cs typeface="Segoe UI Light" panose="020B0502040204020203" pitchFamily="34" charset="0"/>
              </a:rPr>
              <a:t>Majority: No</a:t>
            </a:r>
          </a:p>
          <a:p>
            <a:r>
              <a:rPr lang="en-US" dirty="0">
                <a:latin typeface="Segoe UI Light" panose="020B0502040204020203" pitchFamily="34" charset="0"/>
                <a:cs typeface="Segoe UI Light" panose="020B0502040204020203" pitchFamily="34" charset="0"/>
              </a:rPr>
              <a:t>Minority: Yes</a:t>
            </a:r>
          </a:p>
          <a:p>
            <a:pPr>
              <a:buFont typeface="Wingdings" panose="05000000000000000000" pitchFamily="2" charset="2"/>
              <a:buChar char="v"/>
            </a:pPr>
            <a:r>
              <a:rPr lang="en-US" dirty="0"/>
              <a:t>This makes accuracy alone misleading.</a:t>
            </a: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80954339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2826-B895-522A-2942-2F73BD6C5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557C7-62FA-C184-52A7-2EA682567C34}"/>
              </a:ext>
            </a:extLst>
          </p:cNvPr>
          <p:cNvSpPr>
            <a:spLocks noGrp="1"/>
          </p:cNvSpPr>
          <p:nvPr>
            <p:ph type="title"/>
          </p:nvPr>
        </p:nvSpPr>
        <p:spPr>
          <a:xfrm>
            <a:off x="1349829" y="832104"/>
            <a:ext cx="9108729" cy="1069848"/>
          </a:xfrm>
        </p:spPr>
        <p:txBody>
          <a:bodyPr>
            <a:normAutofit/>
          </a:bodyPr>
          <a:lstStyle/>
          <a:p>
            <a:r>
              <a:rPr lang="en-US" sz="4000" b="1" spc="600" dirty="0">
                <a:ln w="28575">
                  <a:noFill/>
                  <a:prstDash val="solid"/>
                </a:ln>
                <a:solidFill>
                  <a:schemeClr val="bg1"/>
                </a:solidFill>
                <a:effectLst>
                  <a:outerShdw blurRad="50800" dist="50800" dir="5400000" algn="ctr" rotWithShape="0">
                    <a:srgbClr val="6F22E3"/>
                  </a:outerShdw>
                </a:effectLst>
                <a:latin typeface="Tw Cen MT" panose="020B0602020104020603" pitchFamily="34" charset="77"/>
              </a:rPr>
              <a:t>Data preprocessing</a:t>
            </a:r>
            <a:endParaRPr lang="en-US" dirty="0">
              <a:effectLst>
                <a:outerShdw blurRad="50800" dist="50800" dir="5400000" algn="ctr" rotWithShape="0">
                  <a:srgbClr val="6F22E3"/>
                </a:outerShdw>
              </a:effectLst>
            </a:endParaRPr>
          </a:p>
        </p:txBody>
      </p:sp>
      <p:sp>
        <p:nvSpPr>
          <p:cNvPr id="5" name="Slide Number Placeholder 4">
            <a:extLst>
              <a:ext uri="{FF2B5EF4-FFF2-40B4-BE49-F238E27FC236}">
                <a16:creationId xmlns:a16="http://schemas.microsoft.com/office/drawing/2014/main" id="{00ED00F0-C4B2-757E-3A55-C284ECA9C6E2}"/>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3" name="Content Placeholder 2">
            <a:extLst>
              <a:ext uri="{FF2B5EF4-FFF2-40B4-BE49-F238E27FC236}">
                <a16:creationId xmlns:a16="http://schemas.microsoft.com/office/drawing/2014/main" id="{2EE7081D-50AF-A8A9-EC18-86FE129C6C92}"/>
              </a:ext>
            </a:extLst>
          </p:cNvPr>
          <p:cNvSpPr>
            <a:spLocks noGrp="1"/>
          </p:cNvSpPr>
          <p:nvPr>
            <p:ph idx="1"/>
          </p:nvPr>
        </p:nvSpPr>
        <p:spPr>
          <a:xfrm>
            <a:off x="1066800" y="2100943"/>
            <a:ext cx="8878824" cy="4005943"/>
          </a:xfrm>
        </p:spPr>
        <p:txBody>
          <a:bodyPr/>
          <a:lstStyle/>
          <a:p>
            <a:pPr algn="l">
              <a:lnSpc>
                <a:spcPct val="150000"/>
              </a:lnSpc>
              <a:buClr>
                <a:schemeClr val="accent6"/>
              </a:buClr>
              <a:buFont typeface="Wingdings" panose="05000000000000000000" pitchFamily="2" charset="2"/>
              <a:buChar char="Ø"/>
            </a:pPr>
            <a:r>
              <a:rPr lang="en-US" dirty="0">
                <a:solidFill>
                  <a:schemeClr val="bg1"/>
                </a:solidFill>
                <a:latin typeface="Segoe UI Light" panose="020B0502040204020203" pitchFamily="34" charset="0"/>
                <a:cs typeface="Segoe UI Light" panose="020B0502040204020203" pitchFamily="34" charset="0"/>
              </a:rPr>
              <a:t>The following preprocessing steps were applied: </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 Handling missing and unknown values</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 Encoding categorical variables (job, month, contact, etc.)</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 Feature scaling where required</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 Removing irrelevant or non-informative columns</a:t>
            </a:r>
          </a:p>
          <a:p>
            <a:pPr algn="l">
              <a:lnSpc>
                <a:spcPct val="150000"/>
              </a:lnSpc>
              <a:buClr>
                <a:schemeClr val="accent6"/>
              </a:buClr>
              <a:buFont typeface="Wingdings" panose="05000000000000000000" pitchFamily="2" charset="2"/>
              <a:buChar char="Ø"/>
            </a:pPr>
            <a:r>
              <a:rPr lang="en-US" dirty="0">
                <a:solidFill>
                  <a:schemeClr val="bg1"/>
                </a:solidFill>
                <a:latin typeface="Segoe UI Light" panose="020B0502040204020203" pitchFamily="34" charset="0"/>
                <a:cs typeface="Segoe UI Light" panose="020B0502040204020203" pitchFamily="34" charset="0"/>
              </a:rPr>
              <a:t>These steps improved model stability and performance.</a:t>
            </a:r>
          </a:p>
        </p:txBody>
      </p:sp>
    </p:spTree>
    <p:extLst>
      <p:ext uri="{BB962C8B-B14F-4D97-AF65-F5344CB8AC3E}">
        <p14:creationId xmlns:p14="http://schemas.microsoft.com/office/powerpoint/2010/main" val="324778943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411480"/>
            <a:ext cx="9994392" cy="1101634"/>
          </a:xfrm>
        </p:spPr>
        <p:txBody>
          <a:bodyPr/>
          <a:lstStyle/>
          <a:p>
            <a:r>
              <a:rPr lang="en-US" dirty="0">
                <a:effectLst>
                  <a:outerShdw blurRad="50800" dist="50800" dir="5400000" algn="ctr" rotWithShape="0">
                    <a:srgbClr val="2F21F3"/>
                  </a:outerShdw>
                </a:effectLst>
              </a:rPr>
              <a:t>Dataset Balancing</a:t>
            </a:r>
            <a:endParaRPr lang="en-US" sz="4000" b="1" spc="600" dirty="0">
              <a:ln w="28575">
                <a:noFill/>
                <a:prstDash val="solid"/>
              </a:ln>
              <a:solidFill>
                <a:schemeClr val="bg1"/>
              </a:solidFill>
              <a:effectLst>
                <a:outerShdw blurRad="50800" dist="50800" dir="5400000" algn="ctr" rotWithShape="0">
                  <a:srgbClr val="2F21F3"/>
                </a:outerShdw>
              </a:effectLst>
              <a:latin typeface="Tw Cen MT" panose="020B0602020104020603" pitchFamily="34" charset="77"/>
            </a:endParaRPr>
          </a:p>
        </p:txBody>
      </p:sp>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7" name="Content Placeholder 6">
            <a:extLst>
              <a:ext uri="{FF2B5EF4-FFF2-40B4-BE49-F238E27FC236}">
                <a16:creationId xmlns:a16="http://schemas.microsoft.com/office/drawing/2014/main" id="{E9857CC3-5981-1CFF-ABDC-FB84D090B994}"/>
              </a:ext>
            </a:extLst>
          </p:cNvPr>
          <p:cNvSpPr>
            <a:spLocks noGrp="1"/>
          </p:cNvSpPr>
          <p:nvPr>
            <p:ph idx="1"/>
          </p:nvPr>
        </p:nvSpPr>
        <p:spPr>
          <a:xfrm>
            <a:off x="1014984" y="1765300"/>
            <a:ext cx="10332720" cy="4972957"/>
          </a:xfrm>
        </p:spPr>
        <p:txBody>
          <a:bodyPr/>
          <a:lstStyle/>
          <a:p>
            <a:pPr marL="457200" indent="-457200">
              <a:buFont typeface="Wingdings" panose="05000000000000000000" pitchFamily="2" charset="2"/>
              <a:buChar char="q"/>
            </a:pPr>
            <a:r>
              <a:rPr lang="en-US" dirty="0"/>
              <a:t>Imbalanced data causes models to predict mostly "No“</a:t>
            </a:r>
          </a:p>
          <a:p>
            <a:pPr marL="0" indent="0">
              <a:buNone/>
            </a:pPr>
            <a:r>
              <a:rPr lang="en-US" dirty="0"/>
              <a:t>Oversampling technique applied to increase "Yes" cases</a:t>
            </a:r>
          </a:p>
          <a:p>
            <a:pPr marL="457200" indent="-457200">
              <a:buFont typeface="Wingdings" panose="05000000000000000000" pitchFamily="2" charset="2"/>
              <a:buChar char="q"/>
            </a:pPr>
            <a:r>
              <a:rPr lang="en-US" dirty="0"/>
              <a:t>To fix class imbalance, a balancing technique (such as oversampling) was applied:</a:t>
            </a:r>
          </a:p>
          <a:p>
            <a:pPr marL="457200" indent="-457200">
              <a:buFont typeface="Arial" panose="020B0604020202020204" pitchFamily="34" charset="0"/>
              <a:buChar char="•"/>
            </a:pPr>
            <a:r>
              <a:rPr lang="en-US" dirty="0"/>
              <a:t>Increased representation of “Yes” cases</a:t>
            </a:r>
          </a:p>
          <a:p>
            <a:pPr marL="457200" indent="-457200">
              <a:buFont typeface="Wingdings" panose="05000000000000000000" pitchFamily="2" charset="2"/>
              <a:buChar char="q"/>
            </a:pPr>
            <a:r>
              <a:rPr lang="en-US" dirty="0"/>
              <a:t>Result:</a:t>
            </a:r>
          </a:p>
          <a:p>
            <a:pPr marL="457200" indent="-457200">
              <a:buFont typeface="Arial" panose="020B0604020202020204" pitchFamily="34" charset="0"/>
              <a:buChar char="•"/>
            </a:pPr>
            <a:r>
              <a:rPr lang="en-US" dirty="0"/>
              <a:t>Improved recall</a:t>
            </a:r>
          </a:p>
          <a:p>
            <a:pPr marL="457200" indent="-457200">
              <a:buFont typeface="Arial" panose="020B0604020202020204" pitchFamily="34" charset="0"/>
              <a:buChar char="•"/>
            </a:pPr>
            <a:r>
              <a:rPr lang="en-US" dirty="0"/>
              <a:t>Improved F1-score</a:t>
            </a:r>
          </a:p>
          <a:p>
            <a:pPr marL="457200" indent="-457200">
              <a:buFont typeface="Arial" panose="020B0604020202020204" pitchFamily="34" charset="0"/>
              <a:buChar char="•"/>
            </a:pPr>
            <a:r>
              <a:rPr lang="en-US" dirty="0"/>
              <a:t>More realistic business predictions</a:t>
            </a:r>
          </a:p>
        </p:txBody>
      </p:sp>
    </p:spTree>
    <p:extLst>
      <p:ext uri="{BB962C8B-B14F-4D97-AF65-F5344CB8AC3E}">
        <p14:creationId xmlns:p14="http://schemas.microsoft.com/office/powerpoint/2010/main" val="120872440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a:xfrm>
            <a:off x="2937824" y="2123987"/>
            <a:ext cx="6316352" cy="3102429"/>
          </a:xfrm>
        </p:spPr>
        <p:txBody>
          <a:bodyPr/>
          <a:lstStyle/>
          <a:p>
            <a:r>
              <a:rPr lang="en-US" sz="2800" dirty="0">
                <a:effectLst>
                  <a:outerShdw blurRad="50800" dist="50800" dir="5400000" algn="ctr" rotWithShape="0">
                    <a:srgbClr val="8822EE"/>
                  </a:outerShdw>
                </a:effectLst>
              </a:rPr>
              <a:t>Three classification algorithms were implemented , trained and tested on the same balanced dataset for fair comparison</a:t>
            </a:r>
            <a:r>
              <a:rPr lang="en-US" dirty="0">
                <a:effectLst>
                  <a:outerShdw blurRad="50800" dist="50800" dir="5400000" algn="ctr" rotWithShape="0">
                    <a:srgbClr val="8822EE"/>
                  </a:outerShdw>
                </a:effectLst>
              </a:rPr>
              <a:t>. </a:t>
            </a:r>
            <a:br>
              <a:rPr lang="en-US" dirty="0">
                <a:effectLst>
                  <a:outerShdw blurRad="50800" dist="50800" dir="5400000" algn="ctr" rotWithShape="0">
                    <a:srgbClr val="8822EE"/>
                  </a:outerShdw>
                </a:effectLst>
              </a:rPr>
            </a:br>
            <a:br>
              <a:rPr lang="en-US" dirty="0">
                <a:effectLst>
                  <a:outerShdw blurRad="50800" dist="50800" dir="5400000" algn="ctr" rotWithShape="0">
                    <a:srgbClr val="8822EE"/>
                  </a:outerShdw>
                </a:effectLst>
              </a:rPr>
            </a:br>
            <a:endParaRPr lang="en-US" dirty="0">
              <a:effectLst>
                <a:outerShdw blurRad="50800" dist="50800" dir="5400000" algn="ctr" rotWithShape="0">
                  <a:srgbClr val="8822EE"/>
                </a:outerShdw>
              </a:effectLst>
            </a:endParaRPr>
          </a:p>
        </p:txBody>
      </p:sp>
    </p:spTree>
    <p:extLst>
      <p:ext uri="{BB962C8B-B14F-4D97-AF65-F5344CB8AC3E}">
        <p14:creationId xmlns:p14="http://schemas.microsoft.com/office/powerpoint/2010/main" val="12132100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a:xfrm>
            <a:off x="1655064" y="711200"/>
            <a:ext cx="8878824" cy="901700"/>
          </a:xfrm>
        </p:spPr>
        <p:txBody>
          <a:bodyPr/>
          <a:lstStyle/>
          <a:p>
            <a:r>
              <a:rPr lang="en-US" dirty="0">
                <a:effectLst>
                  <a:outerShdw blurRad="50800" dist="50800" dir="5400000" algn="ctr" rotWithShape="0">
                    <a:srgbClr val="2F21F3"/>
                  </a:outerShdw>
                </a:effectLst>
              </a:rPr>
              <a:t>Algorithms Used:</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a:xfrm>
            <a:off x="727339" y="2110946"/>
            <a:ext cx="3546566" cy="702769"/>
          </a:xfrm>
        </p:spPr>
        <p:txBody>
          <a:bodyPr/>
          <a:lstStyle/>
          <a:p>
            <a:r>
              <a:rPr lang="en-US" dirty="0"/>
              <a:t>Logistic regression</a:t>
            </a:r>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a:xfrm>
            <a:off x="731520" y="3022709"/>
            <a:ext cx="3546566" cy="3644791"/>
          </a:xfrm>
        </p:spPr>
        <p:txBody>
          <a:bodyPr/>
          <a:lstStyle/>
          <a:p>
            <a:r>
              <a:rPr lang="en-US" sz="1600" b="1" dirty="0">
                <a:latin typeface="Arial Black" panose="020B0A04020102020204" pitchFamily="34" charset="0"/>
              </a:rPr>
              <a:t>• Simple and interpretable</a:t>
            </a:r>
          </a:p>
          <a:p>
            <a:br>
              <a:rPr lang="en-US" sz="1600" b="1" dirty="0">
                <a:latin typeface="Arial Black" panose="020B0A04020102020204" pitchFamily="34" charset="0"/>
              </a:rPr>
            </a:br>
            <a:r>
              <a:rPr lang="en-US" sz="1600" b="1" dirty="0">
                <a:latin typeface="Arial Black" panose="020B0A04020102020204" pitchFamily="34" charset="0"/>
              </a:rPr>
              <a:t>• Common baseline in banking projects</a:t>
            </a:r>
          </a:p>
          <a:p>
            <a:endParaRPr lang="en-US" sz="1600" b="1" dirty="0">
              <a:latin typeface="Arial Black" panose="020B0A04020102020204" pitchFamily="34" charset="0"/>
            </a:endParaRPr>
          </a:p>
          <a:p>
            <a:pPr lvl="0" eaLnBrk="0" fontAlgn="base" hangingPunct="0">
              <a:spcBef>
                <a:spcPct val="0"/>
              </a:spcBef>
              <a:spcAft>
                <a:spcPct val="0"/>
              </a:spcAft>
              <a:buClrTx/>
              <a:buFontTx/>
              <a:buChar char="•"/>
            </a:pPr>
            <a:r>
              <a:rPr lang="en-US" altLang="en-US" sz="1600" b="1" dirty="0">
                <a:latin typeface="Arial Black" panose="020B0A04020102020204" pitchFamily="34" charset="0"/>
              </a:rPr>
              <a:t>Helps understand how each feature affects customer decisions</a:t>
            </a:r>
          </a:p>
          <a:p>
            <a:pPr lvl="0" eaLnBrk="0" fontAlgn="base" hangingPunct="0">
              <a:spcBef>
                <a:spcPct val="0"/>
              </a:spcBef>
              <a:spcAft>
                <a:spcPct val="0"/>
              </a:spcAft>
              <a:buClrTx/>
              <a:buFontTx/>
              <a:buChar char="•"/>
            </a:pPr>
            <a:endParaRPr lang="en-US" altLang="en-US" sz="1600" b="1" dirty="0">
              <a:latin typeface="Arial Black" panose="020B0A04020102020204" pitchFamily="34" charset="0"/>
            </a:endParaRPr>
          </a:p>
          <a:p>
            <a:pPr lvl="0" eaLnBrk="0" fontAlgn="base" hangingPunct="0">
              <a:spcBef>
                <a:spcPct val="0"/>
              </a:spcBef>
              <a:spcAft>
                <a:spcPct val="0"/>
              </a:spcAft>
              <a:buClrTx/>
              <a:buFontTx/>
              <a:buChar char="•"/>
            </a:pPr>
            <a:r>
              <a:rPr lang="en-US" altLang="en-US" sz="1600" b="1" dirty="0">
                <a:latin typeface="Arial Black" panose="020B0A04020102020204" pitchFamily="34" charset="0"/>
              </a:rPr>
              <a:t>Commonly used in similar projects such as customer response prediction and credit approval systems</a:t>
            </a:r>
          </a:p>
          <a:p>
            <a:endParaRPr lang="en-US" sz="1600" b="1" dirty="0"/>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a:xfrm>
            <a:off x="4408714" y="2112264"/>
            <a:ext cx="3432918" cy="702769"/>
          </a:xfrm>
        </p:spPr>
        <p:txBody>
          <a:bodyPr/>
          <a:lstStyle/>
          <a:p>
            <a:r>
              <a:rPr lang="en-US" dirty="0"/>
              <a:t>Random forest </a:t>
            </a:r>
          </a:p>
        </p:txBody>
      </p:sp>
      <p:sp>
        <p:nvSpPr>
          <p:cNvPr id="9" name="Text Placeholder 8">
            <a:extLst>
              <a:ext uri="{FF2B5EF4-FFF2-40B4-BE49-F238E27FC236}">
                <a16:creationId xmlns:a16="http://schemas.microsoft.com/office/drawing/2014/main" id="{F039B280-D4F1-D5B7-9D62-C1DA10C605C9}"/>
              </a:ext>
            </a:extLst>
          </p:cNvPr>
          <p:cNvSpPr>
            <a:spLocks noGrp="1"/>
          </p:cNvSpPr>
          <p:nvPr>
            <p:ph type="body" sz="quarter" idx="17"/>
          </p:nvPr>
        </p:nvSpPr>
        <p:spPr>
          <a:xfrm>
            <a:off x="4408713" y="3025345"/>
            <a:ext cx="3432919" cy="3642155"/>
          </a:xfrm>
        </p:spPr>
        <p:txBody>
          <a:bodyPr/>
          <a:lstStyle/>
          <a:p>
            <a:pPr marL="285750" indent="-285750">
              <a:buFont typeface="Arial" panose="020B0604020202020204" pitchFamily="34" charset="0"/>
              <a:buChar char="•"/>
            </a:pPr>
            <a:r>
              <a:rPr lang="en-US" sz="1600" dirty="0">
                <a:latin typeface="Arial Black" panose="020B0A04020102020204" pitchFamily="34" charset="0"/>
              </a:rPr>
              <a:t>Handles non-linear relationships</a:t>
            </a:r>
          </a:p>
          <a:p>
            <a:pPr marL="285750" indent="-285750">
              <a:buFont typeface="Arial" panose="020B0604020202020204" pitchFamily="34" charset="0"/>
              <a:buChar char="•"/>
            </a:pPr>
            <a:br>
              <a:rPr lang="en-US" sz="1600" dirty="0">
                <a:latin typeface="Arial Black" panose="020B0A04020102020204" pitchFamily="34" charset="0"/>
              </a:rPr>
            </a:br>
            <a:r>
              <a:rPr lang="en-US" sz="1600" dirty="0">
                <a:latin typeface="Arial Black" panose="020B0A04020102020204" pitchFamily="34" charset="0"/>
              </a:rPr>
              <a:t>Strong performance with mixed data types</a:t>
            </a:r>
          </a:p>
          <a:p>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latin typeface="Arial Black" panose="020B0A04020102020204" pitchFamily="34" charset="0"/>
              </a:rPr>
              <a:t>Robust to noise and overfitting compared to single decision trees</a:t>
            </a:r>
          </a:p>
          <a:p>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latin typeface="Arial Black" panose="020B0A04020102020204" pitchFamily="34" charset="0"/>
              </a:rPr>
              <a:t>Frequently used in marketing analytics and customer segmentation tasks</a:t>
            </a:r>
          </a:p>
          <a:p>
            <a:endParaRPr lang="en-US" sz="1600" b="1" dirty="0"/>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a:xfrm>
            <a:off x="7972258" y="2110947"/>
            <a:ext cx="3498499" cy="702769"/>
          </a:xfrm>
        </p:spPr>
        <p:txBody>
          <a:bodyPr/>
          <a:lstStyle/>
          <a:p>
            <a:r>
              <a:rPr lang="en-US" sz="2400" b="1" dirty="0" err="1">
                <a:solidFill>
                  <a:schemeClr val="accent3">
                    <a:lumMod val="25000"/>
                  </a:schemeClr>
                </a:solidFill>
                <a:latin typeface="Tw Cen MT" panose="020B0602020104020603" pitchFamily="34" charset="77"/>
                <a:ea typeface="Source Sans Pro" panose="020B0503030403020204" pitchFamily="34" charset="0"/>
              </a:rPr>
              <a:t>XGBoost</a:t>
            </a:r>
            <a:endParaRPr lang="en-US" dirty="0"/>
          </a:p>
        </p:txBody>
      </p:sp>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a:xfrm>
            <a:off x="7972259" y="3022711"/>
            <a:ext cx="3494317" cy="3644789"/>
          </a:xfrm>
        </p:spPr>
        <p:txBody>
          <a:bodyPr/>
          <a:lstStyle/>
          <a:p>
            <a:pPr marL="285750" indent="-285750">
              <a:buFont typeface="Arial" panose="020B0604020202020204" pitchFamily="34" charset="0"/>
              <a:buChar char="•"/>
            </a:pPr>
            <a:r>
              <a:rPr lang="en-US" sz="1600" dirty="0">
                <a:latin typeface="Arial Black" panose="020B0A04020102020204" pitchFamily="34" charset="0"/>
              </a:rPr>
              <a:t>Handles imbalanced datasets efficiently through boosting</a:t>
            </a:r>
          </a:p>
          <a:p>
            <a:pPr marL="285750" indent="-285750">
              <a:buFont typeface="Arial" panose="020B0604020202020204" pitchFamily="34" charset="0"/>
              <a:buChar char="•"/>
            </a:pPr>
            <a:br>
              <a:rPr lang="en-US" sz="1600" b="1" dirty="0">
                <a:latin typeface="Arial Black" panose="020B0A04020102020204" pitchFamily="34" charset="0"/>
              </a:rPr>
            </a:br>
            <a:r>
              <a:rPr lang="en-US" sz="1600" b="1" dirty="0">
                <a:latin typeface="Arial Black" panose="020B0A04020102020204" pitchFamily="34" charset="0"/>
              </a:rPr>
              <a:t>Known for high accuracy on structured datasets</a:t>
            </a:r>
          </a:p>
          <a:p>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latin typeface="Arial Black" panose="020B0A04020102020204" pitchFamily="34" charset="0"/>
              </a:rPr>
              <a:t>Used extensively in Kaggle competitions and real-world banking applications</a:t>
            </a:r>
            <a:endParaRPr lang="en-US" sz="1600" b="1" dirty="0">
              <a:latin typeface="Arial Black" panose="020B0A04020102020204" pitchFamily="34" charset="0"/>
            </a:endParaRPr>
          </a:p>
        </p:txBody>
      </p:sp>
    </p:spTree>
    <p:extLst>
      <p:ext uri="{BB962C8B-B14F-4D97-AF65-F5344CB8AC3E}">
        <p14:creationId xmlns:p14="http://schemas.microsoft.com/office/powerpoint/2010/main" val="143013819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33EB4-6EC6-E35E-FB94-0D1FD807D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D6ADE-83B8-CDC2-4625-EAE8C072EACE}"/>
              </a:ext>
            </a:extLst>
          </p:cNvPr>
          <p:cNvSpPr>
            <a:spLocks noGrp="1"/>
          </p:cNvSpPr>
          <p:nvPr>
            <p:ph type="title"/>
          </p:nvPr>
        </p:nvSpPr>
        <p:spPr>
          <a:xfrm>
            <a:off x="850392" y="822960"/>
            <a:ext cx="8892322" cy="1069848"/>
          </a:xfrm>
        </p:spPr>
        <p:txBody>
          <a:bodyPr/>
          <a:lstStyle/>
          <a:p>
            <a:r>
              <a:rPr lang="en-US" dirty="0">
                <a:effectLst>
                  <a:outerShdw blurRad="50800" dist="50800" dir="5400000" algn="ctr" rotWithShape="0">
                    <a:srgbClr val="00B0F0"/>
                  </a:outerShdw>
                </a:effectLst>
              </a:rPr>
              <a:t>Model Accuracy Results:</a:t>
            </a:r>
          </a:p>
        </p:txBody>
      </p:sp>
      <p:sp>
        <p:nvSpPr>
          <p:cNvPr id="8" name="Slide Number Placeholder 7">
            <a:extLst>
              <a:ext uri="{FF2B5EF4-FFF2-40B4-BE49-F238E27FC236}">
                <a16:creationId xmlns:a16="http://schemas.microsoft.com/office/drawing/2014/main" id="{E6E31772-852C-773F-706C-9FF2607292FB}"/>
              </a:ext>
            </a:extLst>
          </p:cNvPr>
          <p:cNvSpPr>
            <a:spLocks noGrp="1"/>
          </p:cNvSpPr>
          <p:nvPr>
            <p:ph type="sldNum" sz="quarter" idx="12"/>
          </p:nvPr>
        </p:nvSpPr>
        <p:spPr/>
        <p:txBody>
          <a:bodyPr/>
          <a:lstStyle/>
          <a:p>
            <a:fld id="{294A09A9-5501-47C1-A89A-A340965A2BE2}" type="slidenum">
              <a:rPr lang="en-US" smtClean="0"/>
              <a:t>11</a:t>
            </a:fld>
            <a:endParaRPr lang="en-US" dirty="0"/>
          </a:p>
        </p:txBody>
      </p:sp>
      <p:sp>
        <p:nvSpPr>
          <p:cNvPr id="6" name="Content Placeholder 5">
            <a:extLst>
              <a:ext uri="{FF2B5EF4-FFF2-40B4-BE49-F238E27FC236}">
                <a16:creationId xmlns:a16="http://schemas.microsoft.com/office/drawing/2014/main" id="{273F263D-DC04-84E9-B760-D60AFB7D5364}"/>
              </a:ext>
            </a:extLst>
          </p:cNvPr>
          <p:cNvSpPr>
            <a:spLocks noGrp="1"/>
          </p:cNvSpPr>
          <p:nvPr>
            <p:ph sz="quarter" idx="4"/>
          </p:nvPr>
        </p:nvSpPr>
        <p:spPr>
          <a:xfrm>
            <a:off x="850392" y="4225395"/>
            <a:ext cx="9349522" cy="2476066"/>
          </a:xfrm>
        </p:spPr>
        <p:txBody>
          <a:bodyPr/>
          <a:lstStyle/>
          <a:p>
            <a:pPr lvl="1">
              <a:buFont typeface="Wingdings" panose="05000000000000000000" pitchFamily="2" charset="2"/>
              <a:buChar char="v"/>
            </a:pPr>
            <a:r>
              <a:rPr lang="en-US" sz="2400" b="1" dirty="0">
                <a:effectLst>
                  <a:outerShdw blurRad="50800" dist="50800" dir="5400000" algn="ctr" rotWithShape="0">
                    <a:srgbClr val="8822EE"/>
                  </a:outerShdw>
                </a:effectLst>
              </a:rPr>
              <a:t>Based on academic and industry projects:</a:t>
            </a:r>
          </a:p>
          <a:p>
            <a:pPr marL="0" indent="0">
              <a:buNone/>
            </a:pPr>
            <a:r>
              <a:rPr lang="en-US" sz="2400" b="1" dirty="0">
                <a:effectLst>
                  <a:outerShdw blurRad="50800" dist="50800" dir="5400000" algn="ctr" rotWithShape="0">
                    <a:srgbClr val="8822EE"/>
                  </a:outerShdw>
                </a:effectLst>
              </a:rPr>
              <a:t>• Logistic Regression: Widely used as a baseline model</a:t>
            </a:r>
            <a:br>
              <a:rPr lang="en-US" sz="2400" b="1" dirty="0">
                <a:effectLst>
                  <a:outerShdw blurRad="50800" dist="50800" dir="5400000" algn="ctr" rotWithShape="0">
                    <a:srgbClr val="8822EE"/>
                  </a:outerShdw>
                </a:effectLst>
              </a:rPr>
            </a:br>
            <a:r>
              <a:rPr lang="en-US" sz="2400" b="1" dirty="0">
                <a:effectLst>
                  <a:outerShdw blurRad="50800" dist="50800" dir="5400000" algn="ctr" rotWithShape="0">
                    <a:srgbClr val="8822EE"/>
                  </a:outerShdw>
                </a:effectLst>
              </a:rPr>
              <a:t>• Random Forest: Popular for handling complex patterns</a:t>
            </a:r>
            <a:br>
              <a:rPr lang="en-US" sz="2400" b="1" dirty="0">
                <a:effectLst>
                  <a:outerShdw blurRad="50800" dist="50800" dir="5400000" algn="ctr" rotWithShape="0">
                    <a:srgbClr val="8822EE"/>
                  </a:outerShdw>
                </a:effectLst>
              </a:rPr>
            </a:br>
            <a:r>
              <a:rPr lang="en-US" sz="2400" b="1" dirty="0">
                <a:effectLst>
                  <a:outerShdw blurRad="50800" dist="50800" dir="5400000" algn="ctr" rotWithShape="0">
                    <a:srgbClr val="8822EE"/>
                  </a:outerShdw>
                </a:effectLst>
              </a:rPr>
              <a:t>• </a:t>
            </a:r>
            <a:r>
              <a:rPr lang="en-US" sz="2400" b="1" dirty="0" err="1">
                <a:effectLst>
                  <a:outerShdw blurRad="50800" dist="50800" dir="5400000" algn="ctr" rotWithShape="0">
                    <a:srgbClr val="8822EE"/>
                  </a:outerShdw>
                </a:effectLst>
              </a:rPr>
              <a:t>XGBoost</a:t>
            </a:r>
            <a:r>
              <a:rPr lang="en-US" sz="2400" b="1" dirty="0">
                <a:effectLst>
                  <a:outerShdw blurRad="50800" dist="50800" dir="5400000" algn="ctr" rotWithShape="0">
                    <a:srgbClr val="8822EE"/>
                  </a:outerShdw>
                </a:effectLst>
              </a:rPr>
              <a:t>: Most used in recent banking and marketing competitions due to superior accuracy</a:t>
            </a:r>
          </a:p>
          <a:p>
            <a:pPr>
              <a:buFont typeface="Wingdings" panose="05000000000000000000" pitchFamily="2" charset="2"/>
              <a:buChar char="v"/>
            </a:pPr>
            <a:r>
              <a:rPr lang="en-US" sz="2400" b="1" dirty="0" err="1">
                <a:effectLst>
                  <a:outerShdw blurRad="50800" dist="50800" dir="5400000" algn="ctr" rotWithShape="0">
                    <a:srgbClr val="8822EE"/>
                  </a:outerShdw>
                </a:effectLst>
              </a:rPr>
              <a:t>XGBoost</a:t>
            </a:r>
            <a:r>
              <a:rPr lang="en-US" sz="2400" b="1" dirty="0">
                <a:effectLst>
                  <a:outerShdw blurRad="50800" dist="50800" dir="5400000" algn="ctr" rotWithShape="0">
                    <a:srgbClr val="8822EE"/>
                  </a:outerShdw>
                </a:effectLst>
              </a:rPr>
              <a:t> achieved the highest overall performance</a:t>
            </a:r>
          </a:p>
        </p:txBody>
      </p:sp>
      <p:graphicFrame>
        <p:nvGraphicFramePr>
          <p:cNvPr id="27" name="Content Placeholder 26">
            <a:extLst>
              <a:ext uri="{FF2B5EF4-FFF2-40B4-BE49-F238E27FC236}">
                <a16:creationId xmlns:a16="http://schemas.microsoft.com/office/drawing/2014/main" id="{9C10D8F9-B87D-85B5-BAD8-6CCC904603E2}"/>
              </a:ext>
            </a:extLst>
          </p:cNvPr>
          <p:cNvGraphicFramePr>
            <a:graphicFrameLocks noGrp="1"/>
          </p:cNvGraphicFramePr>
          <p:nvPr>
            <p:ph sz="half" idx="2"/>
            <p:extLst>
              <p:ext uri="{D42A27DB-BD31-4B8C-83A1-F6EECF244321}">
                <p14:modId xmlns:p14="http://schemas.microsoft.com/office/powerpoint/2010/main" val="3650872472"/>
              </p:ext>
            </p:extLst>
          </p:nvPr>
        </p:nvGraphicFramePr>
        <p:xfrm>
          <a:off x="1237488" y="2132001"/>
          <a:ext cx="7264400" cy="1854200"/>
        </p:xfrm>
        <a:graphic>
          <a:graphicData uri="http://schemas.openxmlformats.org/drawingml/2006/table">
            <a:tbl>
              <a:tblPr firstRow="1" firstCol="1" bandRow="1">
                <a:tableStyleId>{69C7853C-536D-4A76-A0AE-DD22124D55A5}</a:tableStyleId>
              </a:tblPr>
              <a:tblGrid>
                <a:gridCol w="3632200">
                  <a:extLst>
                    <a:ext uri="{9D8B030D-6E8A-4147-A177-3AD203B41FA5}">
                      <a16:colId xmlns:a16="http://schemas.microsoft.com/office/drawing/2014/main" val="3057018335"/>
                    </a:ext>
                  </a:extLst>
                </a:gridCol>
                <a:gridCol w="3632200">
                  <a:extLst>
                    <a:ext uri="{9D8B030D-6E8A-4147-A177-3AD203B41FA5}">
                      <a16:colId xmlns:a16="http://schemas.microsoft.com/office/drawing/2014/main" val="2338096005"/>
                    </a:ext>
                  </a:extLst>
                </a:gridCol>
              </a:tblGrid>
              <a:tr h="463550">
                <a:tc>
                  <a:txBody>
                    <a:bodyPr/>
                    <a:lstStyle/>
                    <a:p>
                      <a:pPr algn="ctr"/>
                      <a:r>
                        <a:rPr lang="en-US" sz="2400" dirty="0">
                          <a:solidFill>
                            <a:srgbClr val="102857"/>
                          </a:solidFill>
                          <a:latin typeface="Arial Black" panose="020B0A04020102020204" pitchFamily="34" charset="0"/>
                        </a:rPr>
                        <a:t> model</a:t>
                      </a:r>
                    </a:p>
                  </a:txBody>
                  <a:tcPr/>
                </a:tc>
                <a:tc>
                  <a:txBody>
                    <a:bodyPr/>
                    <a:lstStyle/>
                    <a:p>
                      <a:pPr algn="ctr"/>
                      <a:r>
                        <a:rPr lang="en-US" sz="2400" dirty="0">
                          <a:solidFill>
                            <a:srgbClr val="102857"/>
                          </a:solidFill>
                          <a:latin typeface="Arial Black" panose="020B0A04020102020204" pitchFamily="34" charset="0"/>
                        </a:rPr>
                        <a:t>accuracy</a:t>
                      </a:r>
                    </a:p>
                  </a:txBody>
                  <a:tcPr/>
                </a:tc>
                <a:extLst>
                  <a:ext uri="{0D108BD9-81ED-4DB2-BD59-A6C34878D82A}">
                    <a16:rowId xmlns:a16="http://schemas.microsoft.com/office/drawing/2014/main" val="3411393721"/>
                  </a:ext>
                </a:extLst>
              </a:tr>
              <a:tr h="463550">
                <a:tc>
                  <a:txBody>
                    <a:bodyPr/>
                    <a:lstStyle/>
                    <a:p>
                      <a:r>
                        <a:rPr lang="en-US" sz="2000" dirty="0">
                          <a:solidFill>
                            <a:srgbClr val="102857"/>
                          </a:solidFill>
                          <a:latin typeface="Arial Black" panose="020B0A04020102020204" pitchFamily="34" charset="0"/>
                        </a:rPr>
                        <a:t>Logistic regression</a:t>
                      </a:r>
                    </a:p>
                  </a:txBody>
                  <a:tcPr/>
                </a:tc>
                <a:tc>
                  <a:txBody>
                    <a:bodyPr/>
                    <a:lstStyle/>
                    <a:p>
                      <a:pPr algn="ctr"/>
                      <a:r>
                        <a:rPr lang="en-US" sz="2000" b="1" dirty="0">
                          <a:solidFill>
                            <a:srgbClr val="102857"/>
                          </a:solidFill>
                          <a:latin typeface="Arial Black" panose="020B0A04020102020204" pitchFamily="34" charset="0"/>
                        </a:rPr>
                        <a:t>≈ 0.82</a:t>
                      </a:r>
                    </a:p>
                  </a:txBody>
                  <a:tcPr/>
                </a:tc>
                <a:extLst>
                  <a:ext uri="{0D108BD9-81ED-4DB2-BD59-A6C34878D82A}">
                    <a16:rowId xmlns:a16="http://schemas.microsoft.com/office/drawing/2014/main" val="204936074"/>
                  </a:ext>
                </a:extLst>
              </a:tr>
              <a:tr h="463550">
                <a:tc>
                  <a:txBody>
                    <a:bodyPr/>
                    <a:lstStyle/>
                    <a:p>
                      <a:r>
                        <a:rPr lang="en-US" sz="2000" dirty="0">
                          <a:solidFill>
                            <a:srgbClr val="102857"/>
                          </a:solidFill>
                          <a:latin typeface="Arial Black" panose="020B0A04020102020204" pitchFamily="34" charset="0"/>
                        </a:rPr>
                        <a:t>Random forest</a:t>
                      </a:r>
                    </a:p>
                  </a:txBody>
                  <a:tcPr/>
                </a:tc>
                <a:tc>
                  <a:txBody>
                    <a:bodyPr/>
                    <a:lstStyle/>
                    <a:p>
                      <a:pPr algn="ctr">
                        <a:buNone/>
                      </a:pPr>
                      <a:r>
                        <a:rPr lang="en-US" sz="2000" dirty="0">
                          <a:latin typeface="Arial Black" panose="020B0A04020102020204" pitchFamily="34" charset="0"/>
                        </a:rPr>
                        <a:t>≈ 0.91</a:t>
                      </a:r>
                    </a:p>
                  </a:txBody>
                  <a:tcPr anchor="ctr"/>
                </a:tc>
                <a:extLst>
                  <a:ext uri="{0D108BD9-81ED-4DB2-BD59-A6C34878D82A}">
                    <a16:rowId xmlns:a16="http://schemas.microsoft.com/office/drawing/2014/main" val="3470235808"/>
                  </a:ext>
                </a:extLst>
              </a:tr>
              <a:tr h="463550">
                <a:tc>
                  <a:txBody>
                    <a:bodyPr/>
                    <a:lstStyle/>
                    <a:p>
                      <a:r>
                        <a:rPr lang="en-US" sz="2000" dirty="0" err="1">
                          <a:solidFill>
                            <a:srgbClr val="102857"/>
                          </a:solidFill>
                          <a:latin typeface="Arial Black" panose="020B0A04020102020204" pitchFamily="34" charset="0"/>
                        </a:rPr>
                        <a:t>XGBoost</a:t>
                      </a:r>
                      <a:endParaRPr lang="en-US" sz="2000" dirty="0">
                        <a:solidFill>
                          <a:srgbClr val="102857"/>
                        </a:solidFill>
                        <a:latin typeface="Arial Black" panose="020B0A04020102020204" pitchFamily="34" charset="0"/>
                      </a:endParaRPr>
                    </a:p>
                  </a:txBody>
                  <a:tcPr/>
                </a:tc>
                <a:tc>
                  <a:txBody>
                    <a:bodyPr/>
                    <a:lstStyle/>
                    <a:p>
                      <a:pPr algn="ctr">
                        <a:buNone/>
                      </a:pPr>
                      <a:r>
                        <a:rPr lang="en-US" sz="2000" b="1" dirty="0">
                          <a:latin typeface="Arial Black" panose="020B0A04020102020204" pitchFamily="34" charset="0"/>
                        </a:rPr>
                        <a:t>≈ 0.93</a:t>
                      </a:r>
                    </a:p>
                  </a:txBody>
                  <a:tcPr anchor="ctr"/>
                </a:tc>
                <a:extLst>
                  <a:ext uri="{0D108BD9-81ED-4DB2-BD59-A6C34878D82A}">
                    <a16:rowId xmlns:a16="http://schemas.microsoft.com/office/drawing/2014/main" val="1292936913"/>
                  </a:ext>
                </a:extLst>
              </a:tr>
            </a:tbl>
          </a:graphicData>
        </a:graphic>
      </p:graphicFrame>
    </p:spTree>
    <p:extLst>
      <p:ext uri="{BB962C8B-B14F-4D97-AF65-F5344CB8AC3E}">
        <p14:creationId xmlns:p14="http://schemas.microsoft.com/office/powerpoint/2010/main" val="420835225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6413F-92AE-110F-E115-E337A946F9C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D866DAF-CCFD-64DA-194D-003832D45899}"/>
              </a:ext>
            </a:extLst>
          </p:cNvPr>
          <p:cNvPicPr>
            <a:picLocks noChangeAspect="1"/>
          </p:cNvPicPr>
          <p:nvPr/>
        </p:nvPicPr>
        <p:blipFill>
          <a:blip r:embed="rId2"/>
          <a:stretch>
            <a:fillRect/>
          </a:stretch>
        </p:blipFill>
        <p:spPr>
          <a:xfrm>
            <a:off x="1343999" y="914400"/>
            <a:ext cx="9504001" cy="5029200"/>
          </a:xfrm>
          <a:prstGeom prst="roundRect">
            <a:avLst>
              <a:gd name="adj" fmla="val 16667"/>
            </a:avLst>
          </a:prstGeom>
          <a:ln>
            <a:solidFill>
              <a:schemeClr val="accent1">
                <a:lumMod val="60000"/>
                <a:lumOff val="40000"/>
              </a:schemeClr>
            </a:solidFill>
          </a:ln>
          <a:effectLst>
            <a:glow rad="228600">
              <a:schemeClr val="accent1">
                <a:satMod val="175000"/>
                <a:alpha val="40000"/>
              </a:schemeClr>
            </a:glow>
            <a:outerShdw blurRad="76200" dist="38100" dir="7800000" algn="tl" rotWithShape="0">
              <a:srgbClr val="000000">
                <a:alpha val="40000"/>
              </a:srgbClr>
            </a:outerShdw>
            <a:softEdge rad="635000"/>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6988826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9C69C-49DC-5605-F365-409EF174F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70BE-D432-F7D6-7897-6C5E8B33F474}"/>
              </a:ext>
            </a:extLst>
          </p:cNvPr>
          <p:cNvSpPr>
            <a:spLocks noGrp="1"/>
          </p:cNvSpPr>
          <p:nvPr>
            <p:ph type="title"/>
          </p:nvPr>
        </p:nvSpPr>
        <p:spPr>
          <a:xfrm>
            <a:off x="1868722" y="64454"/>
            <a:ext cx="8878824" cy="1315843"/>
          </a:xfrm>
        </p:spPr>
        <p:txBody>
          <a:bodyPr/>
          <a:lstStyle/>
          <a:p>
            <a:r>
              <a:rPr lang="en-US" dirty="0">
                <a:effectLst>
                  <a:outerShdw blurRad="50800" dist="50800" dir="5400000" algn="ctr" rotWithShape="0">
                    <a:srgbClr val="8822EE"/>
                  </a:outerShdw>
                </a:effectLst>
              </a:rPr>
              <a:t>Model complexity analysis</a:t>
            </a:r>
          </a:p>
        </p:txBody>
      </p:sp>
      <p:sp>
        <p:nvSpPr>
          <p:cNvPr id="6" name="Slide Number Placeholder 5">
            <a:extLst>
              <a:ext uri="{FF2B5EF4-FFF2-40B4-BE49-F238E27FC236}">
                <a16:creationId xmlns:a16="http://schemas.microsoft.com/office/drawing/2014/main" id="{1AA4E2B2-493F-D5FC-7DDA-4D928DC6A3B3}"/>
              </a:ext>
            </a:extLst>
          </p:cNvPr>
          <p:cNvSpPr>
            <a:spLocks noGrp="1"/>
          </p:cNvSpPr>
          <p:nvPr>
            <p:ph type="sldNum" sz="quarter" idx="12"/>
          </p:nvPr>
        </p:nvSpPr>
        <p:spPr/>
        <p:txBody>
          <a:bodyPr/>
          <a:lstStyle/>
          <a:p>
            <a:fld id="{294A09A9-5501-47C1-A89A-A340965A2BE2}" type="slidenum">
              <a:rPr lang="en-US" smtClean="0"/>
              <a:t>13</a:t>
            </a:fld>
            <a:endParaRPr lang="en-US" dirty="0"/>
          </a:p>
        </p:txBody>
      </p:sp>
      <p:sp>
        <p:nvSpPr>
          <p:cNvPr id="3" name="Text Placeholder 2">
            <a:extLst>
              <a:ext uri="{FF2B5EF4-FFF2-40B4-BE49-F238E27FC236}">
                <a16:creationId xmlns:a16="http://schemas.microsoft.com/office/drawing/2014/main" id="{69F35BDD-0C1E-0878-4A07-2D9F830ED847}"/>
              </a:ext>
            </a:extLst>
          </p:cNvPr>
          <p:cNvSpPr>
            <a:spLocks noGrp="1"/>
          </p:cNvSpPr>
          <p:nvPr>
            <p:ph type="body" idx="1"/>
          </p:nvPr>
        </p:nvSpPr>
        <p:spPr>
          <a:xfrm>
            <a:off x="725762" y="1950477"/>
            <a:ext cx="2957859" cy="1546371"/>
          </a:xfrm>
        </p:spPr>
        <p:txBody>
          <a:bodyPr/>
          <a:lstStyle/>
          <a:p>
            <a:r>
              <a:rPr lang="en-US" b="0" dirty="0">
                <a:effectLst>
                  <a:outerShdw blurRad="50800" dist="50800" dir="5400000" algn="ctr" rotWithShape="0">
                    <a:srgbClr val="BA20DB"/>
                  </a:outerShdw>
                </a:effectLst>
                <a:latin typeface="Arial Black" panose="020B0A04020102020204" pitchFamily="34" charset="0"/>
              </a:rPr>
              <a:t>THEORETICAL COMPLEXITY TABLE</a:t>
            </a:r>
            <a:endParaRPr lang="en-US" dirty="0">
              <a:effectLst>
                <a:outerShdw blurRad="50800" dist="50800" dir="5400000" algn="ctr" rotWithShape="0">
                  <a:srgbClr val="BA20DB"/>
                </a:outerShdw>
              </a:effectLst>
              <a:latin typeface="Arial Black" panose="020B0A04020102020204" pitchFamily="34" charset="0"/>
            </a:endParaRPr>
          </a:p>
        </p:txBody>
      </p:sp>
      <p:sp>
        <p:nvSpPr>
          <p:cNvPr id="12" name="Text Placeholder 11">
            <a:extLst>
              <a:ext uri="{FF2B5EF4-FFF2-40B4-BE49-F238E27FC236}">
                <a16:creationId xmlns:a16="http://schemas.microsoft.com/office/drawing/2014/main" id="{5D9A671D-83E2-F8F0-94D8-33031C5DEEE6}"/>
              </a:ext>
            </a:extLst>
          </p:cNvPr>
          <p:cNvSpPr>
            <a:spLocks noGrp="1"/>
          </p:cNvSpPr>
          <p:nvPr>
            <p:ph type="body" sz="quarter" idx="13"/>
          </p:nvPr>
        </p:nvSpPr>
        <p:spPr>
          <a:xfrm>
            <a:off x="9474200" y="4946545"/>
            <a:ext cx="2425700" cy="1090507"/>
          </a:xfrm>
        </p:spPr>
        <p:txBody>
          <a:bodyPr/>
          <a:lstStyle/>
          <a:p>
            <a:pPr algn="r"/>
            <a:r>
              <a:rPr lang="en-US" b="0" dirty="0">
                <a:effectLst>
                  <a:outerShdw blurRad="50800" dist="50800" dir="5400000" algn="ctr" rotWithShape="0">
                    <a:srgbClr val="BA20DB"/>
                  </a:outerShdw>
                </a:effectLst>
                <a:latin typeface="Arial Black" panose="020B0A04020102020204" pitchFamily="34" charset="0"/>
              </a:rPr>
              <a:t>EMPIRICAL COMPLEXITY TABLE</a:t>
            </a:r>
            <a:endParaRPr lang="en-US" sz="2000" dirty="0">
              <a:effectLst>
                <a:outerShdw blurRad="50800" dist="50800" dir="5400000" algn="ctr" rotWithShape="0">
                  <a:srgbClr val="BA20DB"/>
                </a:outerShdw>
              </a:effectLst>
              <a:latin typeface="Arial Black" panose="020B0A04020102020204" pitchFamily="34" charset="0"/>
            </a:endParaRPr>
          </a:p>
        </p:txBody>
      </p:sp>
      <p:graphicFrame>
        <p:nvGraphicFramePr>
          <p:cNvPr id="7" name="Table 6">
            <a:extLst>
              <a:ext uri="{FF2B5EF4-FFF2-40B4-BE49-F238E27FC236}">
                <a16:creationId xmlns:a16="http://schemas.microsoft.com/office/drawing/2014/main" id="{0A18FD81-DB8B-E132-B76A-553D2A3617A6}"/>
              </a:ext>
            </a:extLst>
          </p:cNvPr>
          <p:cNvGraphicFramePr>
            <a:graphicFrameLocks noGrp="1"/>
          </p:cNvGraphicFramePr>
          <p:nvPr>
            <p:extLst>
              <p:ext uri="{D42A27DB-BD31-4B8C-83A1-F6EECF244321}">
                <p14:modId xmlns:p14="http://schemas.microsoft.com/office/powerpoint/2010/main" val="3732207762"/>
              </p:ext>
            </p:extLst>
          </p:nvPr>
        </p:nvGraphicFramePr>
        <p:xfrm>
          <a:off x="5270500" y="1624503"/>
          <a:ext cx="6629400" cy="2169891"/>
        </p:xfrm>
        <a:graphic>
          <a:graphicData uri="http://schemas.openxmlformats.org/drawingml/2006/table">
            <a:tbl>
              <a:tblPr firstRow="1" firstCol="1" lastCol="1" bandRow="1">
                <a:tableStyleId>{775DCB02-9BB8-47FD-8907-85C794F793BA}</a:tableStyleId>
              </a:tblPr>
              <a:tblGrid>
                <a:gridCol w="2676589">
                  <a:extLst>
                    <a:ext uri="{9D8B030D-6E8A-4147-A177-3AD203B41FA5}">
                      <a16:colId xmlns:a16="http://schemas.microsoft.com/office/drawing/2014/main" val="2612664105"/>
                    </a:ext>
                  </a:extLst>
                </a:gridCol>
                <a:gridCol w="2519962">
                  <a:extLst>
                    <a:ext uri="{9D8B030D-6E8A-4147-A177-3AD203B41FA5}">
                      <a16:colId xmlns:a16="http://schemas.microsoft.com/office/drawing/2014/main" val="2507100977"/>
                    </a:ext>
                  </a:extLst>
                </a:gridCol>
                <a:gridCol w="1432849">
                  <a:extLst>
                    <a:ext uri="{9D8B030D-6E8A-4147-A177-3AD203B41FA5}">
                      <a16:colId xmlns:a16="http://schemas.microsoft.com/office/drawing/2014/main" val="3345271927"/>
                    </a:ext>
                  </a:extLst>
                </a:gridCol>
              </a:tblGrid>
              <a:tr h="439310">
                <a:tc>
                  <a:txBody>
                    <a:bodyPr/>
                    <a:lstStyle/>
                    <a:p>
                      <a:pPr algn="ctr"/>
                      <a:r>
                        <a:rPr lang="en-US" sz="2000" dirty="0">
                          <a:solidFill>
                            <a:srgbClr val="102857"/>
                          </a:solidFill>
                          <a:effectLst>
                            <a:outerShdw blurRad="50800" dist="50800" dir="5400000" algn="ctr" rotWithShape="0">
                              <a:srgbClr val="5D56BF">
                                <a:alpha val="62000"/>
                              </a:srgbClr>
                            </a:outerShdw>
                          </a:effectLst>
                          <a:latin typeface="Arial Black" panose="020B0A04020102020204" pitchFamily="34" charset="0"/>
                        </a:rPr>
                        <a:t>model</a:t>
                      </a:r>
                    </a:p>
                  </a:txBody>
                  <a:tcPr/>
                </a:tc>
                <a:tc>
                  <a:txBody>
                    <a:bodyPr/>
                    <a:lstStyle/>
                    <a:p>
                      <a:pPr algn="ctr"/>
                      <a:r>
                        <a:rPr lang="en-US" sz="2000" dirty="0">
                          <a:solidFill>
                            <a:srgbClr val="102857"/>
                          </a:solidFill>
                          <a:effectLst>
                            <a:outerShdw blurRad="50800" dist="50800" dir="5400000" algn="ctr" rotWithShape="0">
                              <a:srgbClr val="5D56BF">
                                <a:alpha val="62000"/>
                              </a:srgbClr>
                            </a:outerShdw>
                          </a:effectLst>
                          <a:latin typeface="Arial Black" panose="020B0A04020102020204" pitchFamily="34" charset="0"/>
                        </a:rPr>
                        <a:t>time</a:t>
                      </a:r>
                    </a:p>
                  </a:txBody>
                  <a:tcPr/>
                </a:tc>
                <a:tc>
                  <a:txBody>
                    <a:bodyPr/>
                    <a:lstStyle/>
                    <a:p>
                      <a:pPr algn="ctr"/>
                      <a:r>
                        <a:rPr lang="en-US" sz="2000" dirty="0">
                          <a:solidFill>
                            <a:srgbClr val="102857"/>
                          </a:solidFill>
                          <a:effectLst>
                            <a:outerShdw blurRad="50800" dist="50800" dir="5400000" algn="ctr" rotWithShape="0">
                              <a:srgbClr val="5D56BF">
                                <a:alpha val="62000"/>
                              </a:srgbClr>
                            </a:outerShdw>
                          </a:effectLst>
                          <a:latin typeface="Arial Black" panose="020B0A04020102020204" pitchFamily="34" charset="0"/>
                        </a:rPr>
                        <a:t>memory</a:t>
                      </a:r>
                    </a:p>
                  </a:txBody>
                  <a:tcPr/>
                </a:tc>
                <a:extLst>
                  <a:ext uri="{0D108BD9-81ED-4DB2-BD59-A6C34878D82A}">
                    <a16:rowId xmlns:a16="http://schemas.microsoft.com/office/drawing/2014/main" val="871691756"/>
                  </a:ext>
                </a:extLst>
              </a:tr>
              <a:tr h="709654">
                <a:tc>
                  <a:txBody>
                    <a:bodyPr/>
                    <a:lstStyle/>
                    <a:p>
                      <a:r>
                        <a:rPr lang="en-US" sz="1800" b="1" dirty="0">
                          <a:solidFill>
                            <a:srgbClr val="102857"/>
                          </a:solidFill>
                          <a:effectLst>
                            <a:outerShdw blurRad="50800" dist="50800" dir="5400000" algn="ctr" rotWithShape="0">
                              <a:srgbClr val="5D56BF">
                                <a:alpha val="62000"/>
                              </a:srgbClr>
                            </a:outerShdw>
                          </a:effectLst>
                          <a:latin typeface="Arial Black" panose="020B0A04020102020204" pitchFamily="34" charset="0"/>
                        </a:rPr>
                        <a:t>Logistic regression</a:t>
                      </a:r>
                    </a:p>
                  </a:txBody>
                  <a:tcPr/>
                </a:tc>
                <a:tc>
                  <a:txBody>
                    <a:bodyPr/>
                    <a:lstStyle/>
                    <a:p>
                      <a:pPr algn="ctr"/>
                      <a:r>
                        <a:rPr lang="en-US" sz="1800" b="1"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O(n*d)</a:t>
                      </a:r>
                      <a:endParaRPr lang="en-US" b="1"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O(d)</a:t>
                      </a:r>
                      <a:endParaRPr lang="en-US"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extLst>
                  <a:ext uri="{0D108BD9-81ED-4DB2-BD59-A6C34878D82A}">
                    <a16:rowId xmlns:a16="http://schemas.microsoft.com/office/drawing/2014/main" val="1201163443"/>
                  </a:ext>
                </a:extLst>
              </a:tr>
              <a:tr h="615410">
                <a:tc>
                  <a:txBody>
                    <a:bodyPr/>
                    <a:lstStyle/>
                    <a:p>
                      <a:r>
                        <a:rPr lang="en-US" b="1" dirty="0">
                          <a:solidFill>
                            <a:srgbClr val="102857"/>
                          </a:solidFill>
                          <a:effectLst>
                            <a:outerShdw blurRad="50800" dist="50800" dir="5400000" algn="ctr" rotWithShape="0">
                              <a:srgbClr val="5D56BF">
                                <a:alpha val="62000"/>
                              </a:srgbClr>
                            </a:outerShdw>
                          </a:effectLst>
                          <a:latin typeface="Arial Black" panose="020B0A04020102020204" pitchFamily="34" charset="0"/>
                        </a:rPr>
                        <a:t>Random forest</a:t>
                      </a:r>
                    </a:p>
                  </a:txBody>
                  <a:tcPr/>
                </a:tc>
                <a:tc>
                  <a:txBody>
                    <a:bodyPr/>
                    <a:lstStyle/>
                    <a:p>
                      <a:pPr algn="ctr"/>
                      <a:r>
                        <a:rPr lang="pt-BR" sz="1800" b="0"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O(trees*n*d*log n)</a:t>
                      </a:r>
                      <a:endParaRPr lang="en-US"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High </a:t>
                      </a:r>
                      <a:endParaRPr lang="en-US"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extLst>
                  <a:ext uri="{0D108BD9-81ED-4DB2-BD59-A6C34878D82A}">
                    <a16:rowId xmlns:a16="http://schemas.microsoft.com/office/drawing/2014/main" val="1252113882"/>
                  </a:ext>
                </a:extLst>
              </a:tr>
              <a:tr h="405517">
                <a:tc>
                  <a:txBody>
                    <a:bodyPr/>
                    <a:lstStyle/>
                    <a:p>
                      <a:r>
                        <a:rPr lang="en-US" b="1" dirty="0" err="1">
                          <a:solidFill>
                            <a:srgbClr val="102857"/>
                          </a:solidFill>
                          <a:effectLst>
                            <a:outerShdw blurRad="50800" dist="50800" dir="5400000" algn="ctr" rotWithShape="0">
                              <a:srgbClr val="5D56BF">
                                <a:alpha val="62000"/>
                              </a:srgbClr>
                            </a:outerShdw>
                          </a:effectLst>
                          <a:latin typeface="Arial Black" panose="020B0A04020102020204" pitchFamily="34" charset="0"/>
                        </a:rPr>
                        <a:t>XGBoost</a:t>
                      </a:r>
                      <a:endParaRPr lang="en-US" b="1"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tc>
                  <a:txBody>
                    <a:bodyPr/>
                    <a:lstStyle/>
                    <a:p>
                      <a:pPr algn="ctr"/>
                      <a:r>
                        <a:rPr lang="pt-BR" sz="1800" b="0"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O(trees*n*log n)</a:t>
                      </a:r>
                      <a:endParaRPr lang="en-US"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rgbClr val="5D56BF">
                                <a:alpha val="62000"/>
                              </a:srgbClr>
                            </a:outerShdw>
                          </a:effectLst>
                          <a:latin typeface="Arial Black" panose="020B0A04020102020204" pitchFamily="34" charset="0"/>
                        </a:rPr>
                        <a:t>Medium </a:t>
                      </a:r>
                      <a:endParaRPr lang="en-US" dirty="0">
                        <a:solidFill>
                          <a:srgbClr val="102857"/>
                        </a:solidFill>
                        <a:effectLst>
                          <a:outerShdw blurRad="50800" dist="50800" dir="5400000" algn="ctr" rotWithShape="0">
                            <a:srgbClr val="5D56BF">
                              <a:alpha val="62000"/>
                            </a:srgbClr>
                          </a:outerShdw>
                        </a:effectLst>
                        <a:latin typeface="Arial Black" panose="020B0A04020102020204" pitchFamily="34" charset="0"/>
                      </a:endParaRPr>
                    </a:p>
                  </a:txBody>
                  <a:tcPr/>
                </a:tc>
                <a:extLst>
                  <a:ext uri="{0D108BD9-81ED-4DB2-BD59-A6C34878D82A}">
                    <a16:rowId xmlns:a16="http://schemas.microsoft.com/office/drawing/2014/main" val="2845247642"/>
                  </a:ext>
                </a:extLst>
              </a:tr>
            </a:tbl>
          </a:graphicData>
        </a:graphic>
      </p:graphicFrame>
      <p:graphicFrame>
        <p:nvGraphicFramePr>
          <p:cNvPr id="8" name="Table 7">
            <a:extLst>
              <a:ext uri="{FF2B5EF4-FFF2-40B4-BE49-F238E27FC236}">
                <a16:creationId xmlns:a16="http://schemas.microsoft.com/office/drawing/2014/main" id="{94718AF9-3AD2-EA15-4276-F37910571610}"/>
              </a:ext>
            </a:extLst>
          </p:cNvPr>
          <p:cNvGraphicFramePr>
            <a:graphicFrameLocks noGrp="1"/>
          </p:cNvGraphicFramePr>
          <p:nvPr>
            <p:extLst>
              <p:ext uri="{D42A27DB-BD31-4B8C-83A1-F6EECF244321}">
                <p14:modId xmlns:p14="http://schemas.microsoft.com/office/powerpoint/2010/main" val="296910666"/>
              </p:ext>
            </p:extLst>
          </p:nvPr>
        </p:nvGraphicFramePr>
        <p:xfrm>
          <a:off x="725762" y="4067028"/>
          <a:ext cx="7059338" cy="2538942"/>
        </p:xfrm>
        <a:graphic>
          <a:graphicData uri="http://schemas.openxmlformats.org/drawingml/2006/table">
            <a:tbl>
              <a:tblPr firstRow="1" bandRow="1">
                <a:tableStyleId>{69C7853C-536D-4A76-A0AE-DD22124D55A5}</a:tableStyleId>
              </a:tblPr>
              <a:tblGrid>
                <a:gridCol w="1715008">
                  <a:extLst>
                    <a:ext uri="{9D8B030D-6E8A-4147-A177-3AD203B41FA5}">
                      <a16:colId xmlns:a16="http://schemas.microsoft.com/office/drawing/2014/main" val="3338763663"/>
                    </a:ext>
                  </a:extLst>
                </a:gridCol>
                <a:gridCol w="1739900">
                  <a:extLst>
                    <a:ext uri="{9D8B030D-6E8A-4147-A177-3AD203B41FA5}">
                      <a16:colId xmlns:a16="http://schemas.microsoft.com/office/drawing/2014/main" val="797902137"/>
                    </a:ext>
                  </a:extLst>
                </a:gridCol>
                <a:gridCol w="1765300">
                  <a:extLst>
                    <a:ext uri="{9D8B030D-6E8A-4147-A177-3AD203B41FA5}">
                      <a16:colId xmlns:a16="http://schemas.microsoft.com/office/drawing/2014/main" val="1604228521"/>
                    </a:ext>
                  </a:extLst>
                </a:gridCol>
                <a:gridCol w="1839130">
                  <a:extLst>
                    <a:ext uri="{9D8B030D-6E8A-4147-A177-3AD203B41FA5}">
                      <a16:colId xmlns:a16="http://schemas.microsoft.com/office/drawing/2014/main" val="3771170068"/>
                    </a:ext>
                  </a:extLst>
                </a:gridCol>
              </a:tblGrid>
              <a:tr h="618702">
                <a:tc>
                  <a:txBody>
                    <a:bodyPr/>
                    <a:lstStyle/>
                    <a:p>
                      <a:pPr algn="ctr"/>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Model</a:t>
                      </a:r>
                    </a:p>
                  </a:txBody>
                  <a:tcPr/>
                </a:tc>
                <a:tc>
                  <a:txBody>
                    <a:bodyPr/>
                    <a:lstStyle/>
                    <a:p>
                      <a:pPr algn="ctr"/>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Train time</a:t>
                      </a:r>
                    </a:p>
                  </a:txBody>
                  <a:tcPr/>
                </a:tc>
                <a:tc>
                  <a:txBody>
                    <a:bodyPr/>
                    <a:lstStyle/>
                    <a:p>
                      <a:pPr algn="ctr"/>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Prediction time</a:t>
                      </a:r>
                    </a:p>
                  </a:txBody>
                  <a:tcPr/>
                </a:tc>
                <a:tc>
                  <a:txBody>
                    <a:bodyPr/>
                    <a:lstStyle/>
                    <a:p>
                      <a:pPr algn="ctr"/>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Memory used</a:t>
                      </a:r>
                    </a:p>
                  </a:txBody>
                  <a:tcPr/>
                </a:tc>
                <a:extLst>
                  <a:ext uri="{0D108BD9-81ED-4DB2-BD59-A6C34878D82A}">
                    <a16:rowId xmlns:a16="http://schemas.microsoft.com/office/drawing/2014/main" val="994976579"/>
                  </a:ext>
                </a:extLst>
              </a:tr>
              <a:tr h="618702">
                <a:tc>
                  <a:txBody>
                    <a:bodyPr/>
                    <a:lstStyle/>
                    <a:p>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Logistic regression</a:t>
                      </a: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1.189867</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0.001795 </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0.000000</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extLst>
                  <a:ext uri="{0D108BD9-81ED-4DB2-BD59-A6C34878D82A}">
                    <a16:rowId xmlns:a16="http://schemas.microsoft.com/office/drawing/2014/main" val="145290479"/>
                  </a:ext>
                </a:extLst>
              </a:tr>
              <a:tr h="618702">
                <a:tc>
                  <a:txBody>
                    <a:bodyPr/>
                    <a:lstStyle/>
                    <a:p>
                      <a:r>
                        <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Random forest</a:t>
                      </a: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12.607450 </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0.221381 </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6.726562</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extLst>
                  <a:ext uri="{0D108BD9-81ED-4DB2-BD59-A6C34878D82A}">
                    <a16:rowId xmlns:a16="http://schemas.microsoft.com/office/drawing/2014/main" val="540461199"/>
                  </a:ext>
                </a:extLst>
              </a:tr>
              <a:tr h="618702">
                <a:tc>
                  <a:txBody>
                    <a:bodyPr/>
                    <a:lstStyle/>
                    <a:p>
                      <a:r>
                        <a:rPr lang="en-US" b="0" dirty="0" err="1">
                          <a:solidFill>
                            <a:srgbClr val="102857"/>
                          </a:solidFill>
                          <a:effectLst>
                            <a:outerShdw blurRad="50800" dist="50800" dir="5400000" algn="ctr" rotWithShape="0">
                              <a:schemeClr val="accent4">
                                <a:lumMod val="75000"/>
                              </a:schemeClr>
                            </a:outerShdw>
                          </a:effectLst>
                          <a:latin typeface="Arial Black" panose="020B0A04020102020204" pitchFamily="34" charset="0"/>
                        </a:rPr>
                        <a:t>XGBoost</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2.713568 </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0.105811 </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tc>
                  <a:txBody>
                    <a:bodyPr/>
                    <a:lstStyle/>
                    <a:p>
                      <a:pPr algn="ctr"/>
                      <a:r>
                        <a:rPr lang="en-US" sz="1800" b="0" kern="1200" dirty="0">
                          <a:solidFill>
                            <a:srgbClr val="102857"/>
                          </a:solidFill>
                          <a:effectLst>
                            <a:outerShdw blurRad="50800" dist="50800" dir="5400000" algn="ctr" rotWithShape="0">
                              <a:schemeClr val="accent4">
                                <a:lumMod val="75000"/>
                              </a:schemeClr>
                            </a:outerShdw>
                          </a:effectLst>
                          <a:latin typeface="Arial Black" panose="020B0A04020102020204" pitchFamily="34" charset="0"/>
                        </a:rPr>
                        <a:t>0.085938</a:t>
                      </a:r>
                      <a:endParaRPr lang="en-US" b="0" dirty="0">
                        <a:solidFill>
                          <a:srgbClr val="102857"/>
                        </a:solidFill>
                        <a:effectLst>
                          <a:outerShdw blurRad="50800" dist="50800" dir="5400000" algn="ctr" rotWithShape="0">
                            <a:schemeClr val="accent4">
                              <a:lumMod val="75000"/>
                            </a:schemeClr>
                          </a:outerShdw>
                        </a:effectLst>
                        <a:latin typeface="Arial Black" panose="020B0A04020102020204" pitchFamily="34" charset="0"/>
                      </a:endParaRPr>
                    </a:p>
                  </a:txBody>
                  <a:tcPr/>
                </a:tc>
                <a:extLst>
                  <a:ext uri="{0D108BD9-81ED-4DB2-BD59-A6C34878D82A}">
                    <a16:rowId xmlns:a16="http://schemas.microsoft.com/office/drawing/2014/main" val="3051075834"/>
                  </a:ext>
                </a:extLst>
              </a:tr>
            </a:tbl>
          </a:graphicData>
        </a:graphic>
      </p:graphicFrame>
      <p:cxnSp>
        <p:nvCxnSpPr>
          <p:cNvPr id="14" name="Connector: Elbow 13">
            <a:extLst>
              <a:ext uri="{FF2B5EF4-FFF2-40B4-BE49-F238E27FC236}">
                <a16:creationId xmlns:a16="http://schemas.microsoft.com/office/drawing/2014/main" id="{03D4D68C-1263-9B31-B8BB-571788CA8AEF}"/>
              </a:ext>
            </a:extLst>
          </p:cNvPr>
          <p:cNvCxnSpPr>
            <a:cxnSpLocks/>
          </p:cNvCxnSpPr>
          <p:nvPr/>
        </p:nvCxnSpPr>
        <p:spPr>
          <a:xfrm>
            <a:off x="3314700" y="2499899"/>
            <a:ext cx="1739900" cy="419100"/>
          </a:xfrm>
          <a:prstGeom prst="bentConnector3">
            <a:avLst>
              <a:gd name="adj1" fmla="val 50000"/>
            </a:avLst>
          </a:prstGeom>
          <a:ln>
            <a:solidFill>
              <a:schemeClr val="accent4">
                <a:lumMod val="90000"/>
              </a:schemeClr>
            </a:solidFill>
            <a:tailEnd type="triangle"/>
          </a:ln>
          <a:effectLst>
            <a:glow rad="139700">
              <a:schemeClr val="accent4">
                <a:satMod val="175000"/>
                <a:alpha val="40000"/>
              </a:schemeClr>
            </a:glow>
          </a:effectLst>
        </p:spPr>
        <p:style>
          <a:lnRef idx="3">
            <a:schemeClr val="accent4"/>
          </a:lnRef>
          <a:fillRef idx="0">
            <a:schemeClr val="accent4"/>
          </a:fillRef>
          <a:effectRef idx="2">
            <a:schemeClr val="accent4"/>
          </a:effectRef>
          <a:fontRef idx="minor">
            <a:schemeClr val="tx1"/>
          </a:fontRef>
        </p:style>
      </p:cxnSp>
      <p:cxnSp>
        <p:nvCxnSpPr>
          <p:cNvPr id="21" name="Connector: Elbow 20">
            <a:extLst>
              <a:ext uri="{FF2B5EF4-FFF2-40B4-BE49-F238E27FC236}">
                <a16:creationId xmlns:a16="http://schemas.microsoft.com/office/drawing/2014/main" id="{0151690B-20A2-6B79-A06A-3F1208D3637C}"/>
              </a:ext>
            </a:extLst>
          </p:cNvPr>
          <p:cNvCxnSpPr>
            <a:cxnSpLocks/>
          </p:cNvCxnSpPr>
          <p:nvPr/>
        </p:nvCxnSpPr>
        <p:spPr>
          <a:xfrm rot="10800000">
            <a:off x="7950200" y="5336499"/>
            <a:ext cx="2159000" cy="545252"/>
          </a:xfrm>
          <a:prstGeom prst="bentConnector3">
            <a:avLst>
              <a:gd name="adj1" fmla="val 57059"/>
            </a:avLst>
          </a:prstGeom>
          <a:ln>
            <a:tailEnd type="triangle"/>
          </a:ln>
          <a:effectLst>
            <a:glow rad="228600">
              <a:schemeClr val="accent4">
                <a:satMod val="175000"/>
                <a:alpha val="40000"/>
              </a:schemeClr>
            </a:glow>
          </a:effec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16364118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a:xfrm>
            <a:off x="1468918" y="469930"/>
            <a:ext cx="8878824" cy="947057"/>
          </a:xfrm>
        </p:spPr>
        <p:txBody>
          <a:bodyPr/>
          <a:lstStyle/>
          <a:p>
            <a:r>
              <a:rPr lang="en-US" dirty="0">
                <a:effectLst>
                  <a:outerShdw blurRad="50800" dist="50800" dir="5400000" algn="ctr" rotWithShape="0">
                    <a:srgbClr val="6F22E3"/>
                  </a:outerShdw>
                </a:effectLst>
              </a:rPr>
              <a:t>Model Evaluation Metrics</a:t>
            </a:r>
          </a:p>
        </p:txBody>
      </p:sp>
      <p:sp>
        <p:nvSpPr>
          <p:cNvPr id="11" name="Slide Number Placeholder 10">
            <a:extLst>
              <a:ext uri="{FF2B5EF4-FFF2-40B4-BE49-F238E27FC236}">
                <a16:creationId xmlns:a16="http://schemas.microsoft.com/office/drawing/2014/main" id="{9816FD90-6ABD-5EA8-0870-E27733B9F685}"/>
              </a:ext>
            </a:extLst>
          </p:cNvPr>
          <p:cNvSpPr>
            <a:spLocks noGrp="1"/>
          </p:cNvSpPr>
          <p:nvPr>
            <p:ph type="sldNum" sz="quarter" idx="11"/>
          </p:nvPr>
        </p:nvSpPr>
        <p:spPr/>
        <p:txBody>
          <a:bodyPr/>
          <a:lstStyle/>
          <a:p>
            <a:fld id="{294A09A9-5501-47C1-A89A-A340965A2BE2}" type="slidenum">
              <a:rPr lang="en-US" smtClean="0"/>
              <a:pPr/>
              <a:t>14</a:t>
            </a:fld>
            <a:endParaRPr lang="en-US" dirty="0"/>
          </a:p>
        </p:txBody>
      </p:sp>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a:xfrm>
            <a:off x="1021188" y="3113518"/>
            <a:ext cx="2468880" cy="552994"/>
          </a:xfrm>
        </p:spPr>
        <p:txBody>
          <a:bodyPr/>
          <a:lstStyle/>
          <a:p>
            <a:r>
              <a:rPr lang="en-US" sz="3200" dirty="0"/>
              <a:t>Accuracy​</a:t>
            </a:r>
          </a:p>
          <a:p>
            <a:r>
              <a:rPr lang="en-US" dirty="0"/>
              <a:t>​</a:t>
            </a:r>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a:xfrm>
            <a:off x="589788" y="1703485"/>
            <a:ext cx="4626429" cy="467593"/>
          </a:xfrm>
        </p:spPr>
        <p:txBody>
          <a:bodyPr/>
          <a:lstStyle/>
          <a:p>
            <a:r>
              <a:rPr lang="en-US" sz="2400" b="1" dirty="0">
                <a:effectLst>
                  <a:outerShdw blurRad="50800" dist="50800" dir="5400000" algn="ctr" rotWithShape="0">
                    <a:srgbClr val="8822EE"/>
                  </a:outerShdw>
                </a:effectLst>
              </a:rPr>
              <a:t>Models were evaluated using:</a:t>
            </a:r>
          </a:p>
        </p:txBody>
      </p:sp>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a:xfrm>
            <a:off x="3627120" y="3152503"/>
            <a:ext cx="2468880" cy="552994"/>
          </a:xfrm>
        </p:spPr>
        <p:txBody>
          <a:bodyPr/>
          <a:lstStyle/>
          <a:p>
            <a:r>
              <a:rPr lang="en-US" sz="3200" dirty="0"/>
              <a:t>Precision</a:t>
            </a:r>
            <a:r>
              <a:rPr lang="en-US" dirty="0"/>
              <a:t> ​</a:t>
            </a:r>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a:xfrm>
            <a:off x="770657" y="5164516"/>
            <a:ext cx="10422572" cy="552993"/>
          </a:xfrm>
        </p:spPr>
        <p:txBody>
          <a:bodyPr/>
          <a:lstStyle/>
          <a:p>
            <a:r>
              <a:rPr lang="en-US" sz="2400" b="1" dirty="0">
                <a:effectLst>
                  <a:outerShdw blurRad="50800" dist="50800" dir="5400000" algn="ctr" rotWithShape="0">
                    <a:srgbClr val="6F22E3"/>
                  </a:outerShdw>
                </a:effectLst>
              </a:rPr>
              <a:t>These metrics ensure balanced evaluation, especially with imbalanced data.</a:t>
            </a:r>
          </a:p>
        </p:txBody>
      </p:sp>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a:xfrm>
            <a:off x="6175733" y="3113416"/>
            <a:ext cx="2468880" cy="507185"/>
          </a:xfrm>
        </p:spPr>
        <p:txBody>
          <a:bodyPr/>
          <a:lstStyle/>
          <a:p>
            <a:r>
              <a:rPr lang="en-US" sz="3200" dirty="0"/>
              <a:t>Recall</a:t>
            </a:r>
            <a:r>
              <a:rPr lang="en-US" dirty="0"/>
              <a:t> </a:t>
            </a:r>
          </a:p>
        </p:txBody>
      </p:sp>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a:xfrm>
            <a:off x="8724349" y="3067608"/>
            <a:ext cx="2468880" cy="552993"/>
          </a:xfrm>
        </p:spPr>
        <p:txBody>
          <a:bodyPr/>
          <a:lstStyle/>
          <a:p>
            <a:r>
              <a:rPr lang="en-US" sz="3200" dirty="0"/>
              <a:t>F1-score</a:t>
            </a:r>
            <a:r>
              <a:rPr lang="en-US" dirty="0"/>
              <a:t>​</a:t>
            </a:r>
          </a:p>
        </p:txBody>
      </p:sp>
    </p:spTree>
    <p:extLst>
      <p:ext uri="{BB962C8B-B14F-4D97-AF65-F5344CB8AC3E}">
        <p14:creationId xmlns:p14="http://schemas.microsoft.com/office/powerpoint/2010/main" val="157956213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684B7-47E3-0702-97D0-325DC5342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12C1F-7553-B2F5-4508-F3B8FD8412DD}"/>
              </a:ext>
            </a:extLst>
          </p:cNvPr>
          <p:cNvSpPr>
            <a:spLocks noGrp="1"/>
          </p:cNvSpPr>
          <p:nvPr>
            <p:ph type="title"/>
          </p:nvPr>
        </p:nvSpPr>
        <p:spPr>
          <a:xfrm>
            <a:off x="754380" y="786384"/>
            <a:ext cx="9573768" cy="1069848"/>
          </a:xfrm>
        </p:spPr>
        <p:txBody>
          <a:bodyPr/>
          <a:lstStyle/>
          <a:p>
            <a:r>
              <a:rPr lang="en-US" sz="3200" dirty="0">
                <a:effectLst>
                  <a:outerShdw blurRad="50800" dist="50800" dir="5400000" algn="ctr" rotWithShape="0">
                    <a:srgbClr val="6F22E3"/>
                  </a:outerShdw>
                </a:effectLst>
              </a:rPr>
              <a:t>Summary table:</a:t>
            </a:r>
          </a:p>
        </p:txBody>
      </p:sp>
      <p:sp>
        <p:nvSpPr>
          <p:cNvPr id="8" name="Slide Number Placeholder 7">
            <a:extLst>
              <a:ext uri="{FF2B5EF4-FFF2-40B4-BE49-F238E27FC236}">
                <a16:creationId xmlns:a16="http://schemas.microsoft.com/office/drawing/2014/main" id="{7C534A86-3BB0-8594-617C-BCBA79F7E772}"/>
              </a:ext>
            </a:extLst>
          </p:cNvPr>
          <p:cNvSpPr>
            <a:spLocks noGrp="1"/>
          </p:cNvSpPr>
          <p:nvPr>
            <p:ph type="sldNum" sz="quarter" idx="12"/>
          </p:nvPr>
        </p:nvSpPr>
        <p:spPr/>
        <p:txBody>
          <a:bodyPr/>
          <a:lstStyle/>
          <a:p>
            <a:fld id="{294A09A9-5501-47C1-A89A-A340965A2BE2}" type="slidenum">
              <a:rPr lang="en-US" smtClean="0"/>
              <a:t>15</a:t>
            </a:fld>
            <a:endParaRPr lang="en-US" dirty="0"/>
          </a:p>
        </p:txBody>
      </p:sp>
      <p:graphicFrame>
        <p:nvGraphicFramePr>
          <p:cNvPr id="4" name="Table 3">
            <a:extLst>
              <a:ext uri="{FF2B5EF4-FFF2-40B4-BE49-F238E27FC236}">
                <a16:creationId xmlns:a16="http://schemas.microsoft.com/office/drawing/2014/main" id="{6BE01127-D1A7-CF91-CCF0-DE1D6DC080C3}"/>
              </a:ext>
            </a:extLst>
          </p:cNvPr>
          <p:cNvGraphicFramePr>
            <a:graphicFrameLocks noGrp="1"/>
          </p:cNvGraphicFramePr>
          <p:nvPr>
            <p:extLst>
              <p:ext uri="{D42A27DB-BD31-4B8C-83A1-F6EECF244321}">
                <p14:modId xmlns:p14="http://schemas.microsoft.com/office/powerpoint/2010/main" val="280474777"/>
              </p:ext>
            </p:extLst>
          </p:nvPr>
        </p:nvGraphicFramePr>
        <p:xfrm>
          <a:off x="754380" y="2438400"/>
          <a:ext cx="8454934" cy="2965213"/>
        </p:xfrm>
        <a:graphic>
          <a:graphicData uri="http://schemas.openxmlformats.org/drawingml/2006/table">
            <a:tbl>
              <a:tblPr firstRow="1" bandRow="1">
                <a:effectLst>
                  <a:reflection blurRad="6350" stA="52000" endA="300" endPos="35000" dir="5400000" sy="-100000" algn="bl" rotWithShape="0"/>
                </a:effectLst>
                <a:tableStyleId>{93296810-A885-4BE3-A3E7-6D5BEEA58F35}</a:tableStyleId>
              </a:tblPr>
              <a:tblGrid>
                <a:gridCol w="1721662">
                  <a:extLst>
                    <a:ext uri="{9D8B030D-6E8A-4147-A177-3AD203B41FA5}">
                      <a16:colId xmlns:a16="http://schemas.microsoft.com/office/drawing/2014/main" val="1165420951"/>
                    </a:ext>
                  </a:extLst>
                </a:gridCol>
                <a:gridCol w="1506145">
                  <a:extLst>
                    <a:ext uri="{9D8B030D-6E8A-4147-A177-3AD203B41FA5}">
                      <a16:colId xmlns:a16="http://schemas.microsoft.com/office/drawing/2014/main" val="1193814022"/>
                    </a:ext>
                  </a:extLst>
                </a:gridCol>
                <a:gridCol w="1764243">
                  <a:extLst>
                    <a:ext uri="{9D8B030D-6E8A-4147-A177-3AD203B41FA5}">
                      <a16:colId xmlns:a16="http://schemas.microsoft.com/office/drawing/2014/main" val="261207006"/>
                    </a:ext>
                  </a:extLst>
                </a:gridCol>
                <a:gridCol w="1734229">
                  <a:extLst>
                    <a:ext uri="{9D8B030D-6E8A-4147-A177-3AD203B41FA5}">
                      <a16:colId xmlns:a16="http://schemas.microsoft.com/office/drawing/2014/main" val="3690927041"/>
                    </a:ext>
                  </a:extLst>
                </a:gridCol>
                <a:gridCol w="1728655">
                  <a:extLst>
                    <a:ext uri="{9D8B030D-6E8A-4147-A177-3AD203B41FA5}">
                      <a16:colId xmlns:a16="http://schemas.microsoft.com/office/drawing/2014/main" val="405798511"/>
                    </a:ext>
                  </a:extLst>
                </a:gridCol>
              </a:tblGrid>
              <a:tr h="696686">
                <a:tc>
                  <a:txBody>
                    <a:bodyPr/>
                    <a:lstStyle/>
                    <a:p>
                      <a:pPr algn="ctr"/>
                      <a:r>
                        <a:rPr lang="en-US" sz="2000" b="1" dirty="0">
                          <a:solidFill>
                            <a:schemeClr val="accent6">
                              <a:lumMod val="25000"/>
                            </a:schemeClr>
                          </a:solidFill>
                          <a:latin typeface="Arial Black" panose="020B0A04020102020204" pitchFamily="34" charset="0"/>
                        </a:rPr>
                        <a:t>Model </a:t>
                      </a:r>
                    </a:p>
                  </a:txBody>
                  <a:tcPr/>
                </a:tc>
                <a:tc>
                  <a:txBody>
                    <a:bodyPr/>
                    <a:lstStyle/>
                    <a:p>
                      <a:pPr algn="ctr"/>
                      <a:r>
                        <a:rPr lang="en-US" sz="2000" b="1" dirty="0">
                          <a:solidFill>
                            <a:schemeClr val="accent6">
                              <a:lumMod val="25000"/>
                            </a:schemeClr>
                          </a:solidFill>
                          <a:latin typeface="Arial Black" panose="020B0A04020102020204" pitchFamily="34" charset="0"/>
                        </a:rPr>
                        <a:t>Accuracy </a:t>
                      </a:r>
                    </a:p>
                  </a:txBody>
                  <a:tcPr/>
                </a:tc>
                <a:tc>
                  <a:txBody>
                    <a:bodyPr/>
                    <a:lstStyle/>
                    <a:p>
                      <a:pPr algn="ctr"/>
                      <a:r>
                        <a:rPr lang="en-US" sz="2000" b="1" dirty="0">
                          <a:solidFill>
                            <a:schemeClr val="accent6">
                              <a:lumMod val="25000"/>
                            </a:schemeClr>
                          </a:solidFill>
                          <a:latin typeface="Arial Black" panose="020B0A04020102020204" pitchFamily="34" charset="0"/>
                        </a:rPr>
                        <a:t>Precision </a:t>
                      </a:r>
                    </a:p>
                  </a:txBody>
                  <a:tcPr/>
                </a:tc>
                <a:tc>
                  <a:txBody>
                    <a:bodyPr/>
                    <a:lstStyle/>
                    <a:p>
                      <a:pPr algn="ctr"/>
                      <a:r>
                        <a:rPr lang="en-US" sz="2000" b="1" dirty="0">
                          <a:solidFill>
                            <a:schemeClr val="accent6">
                              <a:lumMod val="25000"/>
                            </a:schemeClr>
                          </a:solidFill>
                          <a:latin typeface="Arial Black" panose="020B0A04020102020204" pitchFamily="34" charset="0"/>
                        </a:rPr>
                        <a:t>Recall </a:t>
                      </a:r>
                    </a:p>
                  </a:txBody>
                  <a:tcPr/>
                </a:tc>
                <a:tc>
                  <a:txBody>
                    <a:bodyPr/>
                    <a:lstStyle/>
                    <a:p>
                      <a:pPr algn="ctr"/>
                      <a:r>
                        <a:rPr lang="en-US" sz="2000" b="1" dirty="0">
                          <a:solidFill>
                            <a:schemeClr val="accent6">
                              <a:lumMod val="25000"/>
                            </a:schemeClr>
                          </a:solidFill>
                          <a:latin typeface="Arial Black" panose="020B0A04020102020204" pitchFamily="34" charset="0"/>
                        </a:rPr>
                        <a:t>F1-score</a:t>
                      </a:r>
                    </a:p>
                  </a:txBody>
                  <a:tcPr/>
                </a:tc>
                <a:extLst>
                  <a:ext uri="{0D108BD9-81ED-4DB2-BD59-A6C34878D82A}">
                    <a16:rowId xmlns:a16="http://schemas.microsoft.com/office/drawing/2014/main" val="622381071"/>
                  </a:ext>
                </a:extLst>
              </a:tr>
              <a:tr h="801189">
                <a:tc>
                  <a:txBody>
                    <a:bodyPr/>
                    <a:lstStyle/>
                    <a:p>
                      <a:pPr algn="ctr"/>
                      <a:r>
                        <a:rPr lang="en-US" sz="2000" b="1" dirty="0">
                          <a:solidFill>
                            <a:schemeClr val="accent6">
                              <a:lumMod val="25000"/>
                            </a:schemeClr>
                          </a:solidFill>
                          <a:latin typeface="Arial Black" panose="020B0A04020102020204" pitchFamily="34" charset="0"/>
                        </a:rPr>
                        <a:t>Logistic regression</a:t>
                      </a: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0.82 </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0.82</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0.84</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0.83</a:t>
                      </a:r>
                      <a:endParaRPr lang="en-US" sz="2000"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417282800"/>
                  </a:ext>
                </a:extLst>
              </a:tr>
              <a:tr h="747765">
                <a:tc>
                  <a:txBody>
                    <a:bodyPr/>
                    <a:lstStyle/>
                    <a:p>
                      <a:pPr algn="ctr"/>
                      <a:r>
                        <a:rPr lang="en-US" sz="2000" b="1" dirty="0">
                          <a:solidFill>
                            <a:schemeClr val="accent6">
                              <a:lumMod val="25000"/>
                            </a:schemeClr>
                          </a:solidFill>
                          <a:latin typeface="Arial Black" panose="020B0A04020102020204" pitchFamily="34" charset="0"/>
                        </a:rPr>
                        <a:t>Random forest</a:t>
                      </a: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0.91 </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0.90</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0.93</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0.91</a:t>
                      </a:r>
                      <a:endParaRPr lang="en-US" sz="2000"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2237668531"/>
                  </a:ext>
                </a:extLst>
              </a:tr>
              <a:tr h="719573">
                <a:tc>
                  <a:txBody>
                    <a:bodyPr/>
                    <a:lstStyle/>
                    <a:p>
                      <a:pPr algn="ctr"/>
                      <a:r>
                        <a:rPr lang="en-US" sz="2000" b="1" dirty="0" err="1">
                          <a:solidFill>
                            <a:schemeClr val="accent6">
                              <a:lumMod val="25000"/>
                            </a:schemeClr>
                          </a:solidFill>
                          <a:latin typeface="Arial Black" panose="020B0A04020102020204" pitchFamily="34" charset="0"/>
                        </a:rPr>
                        <a:t>XGBoost</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0.93 </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0.93</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0.93</a:t>
                      </a:r>
                      <a:endParaRPr lang="en-US" sz="2000" b="1" dirty="0">
                        <a:solidFill>
                          <a:schemeClr val="accent6">
                            <a:lumMod val="25000"/>
                          </a:schemeClr>
                        </a:solidFill>
                        <a:latin typeface="Arial Black" panose="020B0A04020102020204" pitchFamily="34" charset="0"/>
                      </a:endParaRPr>
                    </a:p>
                  </a:txBody>
                  <a:tcPr/>
                </a:tc>
                <a:tc>
                  <a:txBody>
                    <a:bodyPr/>
                    <a:lstStyle/>
                    <a:p>
                      <a:pPr algn="ctr"/>
                      <a:r>
                        <a:rPr lang="en-US" sz="2000" b="1" kern="1200" dirty="0">
                          <a:solidFill>
                            <a:schemeClr val="accent6">
                              <a:lumMod val="25000"/>
                            </a:schemeClr>
                          </a:solidFill>
                          <a:effectLst/>
                          <a:latin typeface="Arial Black" panose="020B0A04020102020204" pitchFamily="34" charset="0"/>
                        </a:rPr>
                        <a:t>0.93</a:t>
                      </a:r>
                      <a:endParaRPr lang="en-US" sz="2000"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805499203"/>
                  </a:ext>
                </a:extLst>
              </a:tr>
            </a:tbl>
          </a:graphicData>
        </a:graphic>
      </p:graphicFrame>
    </p:spTree>
    <p:extLst>
      <p:ext uri="{BB962C8B-B14F-4D97-AF65-F5344CB8AC3E}">
        <p14:creationId xmlns:p14="http://schemas.microsoft.com/office/powerpoint/2010/main" val="114541646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D82CF-39B6-D352-927C-70A731EF6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72DA7-43F3-B10F-9CC9-67EA441363CC}"/>
              </a:ext>
            </a:extLst>
          </p:cNvPr>
          <p:cNvSpPr>
            <a:spLocks noGrp="1"/>
          </p:cNvSpPr>
          <p:nvPr>
            <p:ph type="title"/>
          </p:nvPr>
        </p:nvSpPr>
        <p:spPr>
          <a:xfrm>
            <a:off x="754380" y="786384"/>
            <a:ext cx="9573768" cy="1069848"/>
          </a:xfrm>
        </p:spPr>
        <p:txBody>
          <a:bodyPr/>
          <a:lstStyle/>
          <a:p>
            <a:r>
              <a:rPr lang="en-US" sz="3200" dirty="0">
                <a:effectLst>
                  <a:outerShdw blurRad="50800" dist="50800" dir="5400000" algn="ctr" rotWithShape="0">
                    <a:srgbClr val="6F22E3"/>
                  </a:outerShdw>
                </a:effectLst>
              </a:rPr>
              <a:t>Why </a:t>
            </a:r>
            <a:r>
              <a:rPr lang="en-US" sz="3200" dirty="0" err="1">
                <a:effectLst>
                  <a:outerShdw blurRad="50800" dist="50800" dir="5400000" algn="ctr" rotWithShape="0">
                    <a:srgbClr val="6F22E3"/>
                  </a:outerShdw>
                </a:effectLst>
              </a:rPr>
              <a:t>XGBoost</a:t>
            </a:r>
            <a:r>
              <a:rPr lang="en-US" sz="3200" dirty="0">
                <a:effectLst>
                  <a:outerShdw blurRad="50800" dist="50800" dir="5400000" algn="ctr" rotWithShape="0">
                    <a:srgbClr val="6F22E3"/>
                  </a:outerShdw>
                </a:effectLst>
              </a:rPr>
              <a:t> Is the Best Choice?</a:t>
            </a:r>
          </a:p>
        </p:txBody>
      </p:sp>
      <p:sp>
        <p:nvSpPr>
          <p:cNvPr id="8" name="Slide Number Placeholder 7">
            <a:extLst>
              <a:ext uri="{FF2B5EF4-FFF2-40B4-BE49-F238E27FC236}">
                <a16:creationId xmlns:a16="http://schemas.microsoft.com/office/drawing/2014/main" id="{156769FA-4132-8474-B252-F60B25F37236}"/>
              </a:ext>
            </a:extLst>
          </p:cNvPr>
          <p:cNvSpPr>
            <a:spLocks noGrp="1"/>
          </p:cNvSpPr>
          <p:nvPr>
            <p:ph type="sldNum" sz="quarter" idx="12"/>
          </p:nvPr>
        </p:nvSpPr>
        <p:spPr/>
        <p:txBody>
          <a:bodyPr/>
          <a:lstStyle/>
          <a:p>
            <a:fld id="{294A09A9-5501-47C1-A89A-A340965A2BE2}" type="slidenum">
              <a:rPr lang="en-US" smtClean="0"/>
              <a:t>16</a:t>
            </a:fld>
            <a:endParaRPr lang="en-US" dirty="0"/>
          </a:p>
        </p:txBody>
      </p:sp>
      <p:sp>
        <p:nvSpPr>
          <p:cNvPr id="3" name="Text Placeholder 2">
            <a:extLst>
              <a:ext uri="{FF2B5EF4-FFF2-40B4-BE49-F238E27FC236}">
                <a16:creationId xmlns:a16="http://schemas.microsoft.com/office/drawing/2014/main" id="{0B7CB2D3-18BC-F92B-7F3B-A3C96E3D9C37}"/>
              </a:ext>
            </a:extLst>
          </p:cNvPr>
          <p:cNvSpPr>
            <a:spLocks noGrp="1"/>
          </p:cNvSpPr>
          <p:nvPr>
            <p:ph type="body" idx="1"/>
          </p:nvPr>
        </p:nvSpPr>
        <p:spPr>
          <a:xfrm>
            <a:off x="786384" y="2323665"/>
            <a:ext cx="3621024" cy="4003984"/>
          </a:xfrm>
        </p:spPr>
        <p:txBody>
          <a:bodyPr/>
          <a:lstStyle/>
          <a:p>
            <a:pPr marL="342900" indent="-342900">
              <a:buFont typeface="Wingdings" panose="05000000000000000000" pitchFamily="2" charset="2"/>
              <a:buChar char="v"/>
            </a:pPr>
            <a:r>
              <a:rPr lang="en-US" sz="2000" b="0" dirty="0">
                <a:effectLst>
                  <a:outerShdw blurRad="50800" dist="50800" dir="5400000" algn="ctr" rotWithShape="0">
                    <a:schemeClr val="accent4">
                      <a:lumMod val="25000"/>
                    </a:schemeClr>
                  </a:outerShdw>
                </a:effectLst>
              </a:rPr>
              <a:t>Based on both our results and real-world usage, </a:t>
            </a:r>
            <a:r>
              <a:rPr lang="en-US" sz="2000" b="0" dirty="0" err="1">
                <a:effectLst>
                  <a:outerShdw blurRad="50800" dist="50800" dir="5400000" algn="ctr" rotWithShape="0">
                    <a:schemeClr val="accent4">
                      <a:lumMod val="25000"/>
                    </a:schemeClr>
                  </a:outerShdw>
                </a:effectLst>
              </a:rPr>
              <a:t>XGBoost</a:t>
            </a:r>
            <a:r>
              <a:rPr lang="en-US" sz="2000" b="0" dirty="0">
                <a:effectLst>
                  <a:outerShdw blurRad="50800" dist="50800" dir="5400000" algn="ctr" rotWithShape="0">
                    <a:schemeClr val="accent4">
                      <a:lumMod val="25000"/>
                    </a:schemeClr>
                  </a:outerShdw>
                </a:effectLst>
              </a:rPr>
              <a:t> proved to be the strongest model.</a:t>
            </a:r>
          </a:p>
          <a:p>
            <a:pPr marL="342900" indent="-342900">
              <a:buFont typeface="Wingdings" panose="05000000000000000000" pitchFamily="2" charset="2"/>
              <a:buChar char="Ø"/>
            </a:pPr>
            <a:r>
              <a:rPr lang="en-US" sz="2000" b="0" dirty="0">
                <a:effectLst>
                  <a:outerShdw blurRad="50800" dist="50800" dir="5400000" algn="ctr" rotWithShape="0">
                    <a:schemeClr val="accent4">
                      <a:lumMod val="25000"/>
                    </a:schemeClr>
                  </a:outerShdw>
                </a:effectLst>
              </a:rPr>
              <a:t>Reasons:</a:t>
            </a:r>
          </a:p>
          <a:p>
            <a:r>
              <a:rPr lang="en-US" sz="2000" b="0" dirty="0">
                <a:effectLst>
                  <a:outerShdw blurRad="50800" dist="50800" dir="5400000" algn="ctr" rotWithShape="0">
                    <a:schemeClr val="accent4">
                      <a:lumMod val="25000"/>
                    </a:schemeClr>
                  </a:outerShdw>
                </a:effectLst>
              </a:rPr>
              <a:t> • Achieved the highest accuracy in our project • Handles complex, non-linear relationships well </a:t>
            </a:r>
          </a:p>
          <a:p>
            <a:r>
              <a:rPr lang="en-US" sz="2000" b="0" dirty="0">
                <a:effectLst>
                  <a:outerShdw blurRad="50800" dist="50800" dir="5400000" algn="ctr" rotWithShape="0">
                    <a:schemeClr val="accent4">
                      <a:lumMod val="25000"/>
                    </a:schemeClr>
                  </a:outerShdw>
                </a:effectLst>
              </a:rPr>
              <a:t>• Performs strongly on imbalanced datasets • Efficient and scalable for large banking datasets</a:t>
            </a:r>
          </a:p>
        </p:txBody>
      </p:sp>
      <p:sp>
        <p:nvSpPr>
          <p:cNvPr id="14" name="Text Placeholder 13">
            <a:extLst>
              <a:ext uri="{FF2B5EF4-FFF2-40B4-BE49-F238E27FC236}">
                <a16:creationId xmlns:a16="http://schemas.microsoft.com/office/drawing/2014/main" id="{7EDD413E-CD2E-4682-9874-49F3F9A72132}"/>
              </a:ext>
            </a:extLst>
          </p:cNvPr>
          <p:cNvSpPr>
            <a:spLocks noGrp="1"/>
          </p:cNvSpPr>
          <p:nvPr>
            <p:ph type="body" sz="quarter" idx="3"/>
          </p:nvPr>
        </p:nvSpPr>
        <p:spPr>
          <a:xfrm>
            <a:off x="5236029" y="2323665"/>
            <a:ext cx="4463141" cy="4256641"/>
          </a:xfrm>
        </p:spPr>
        <p:txBody>
          <a:bodyPr/>
          <a:lstStyle/>
          <a:p>
            <a:pPr marL="342900" indent="-342900">
              <a:buFont typeface="Wingdings" panose="05000000000000000000" pitchFamily="2" charset="2"/>
              <a:buChar char="v"/>
            </a:pPr>
            <a:r>
              <a:rPr lang="en-US" sz="2000" b="0" dirty="0" err="1"/>
              <a:t>XGBoost</a:t>
            </a:r>
            <a:r>
              <a:rPr lang="en-US" sz="2000" b="0" dirty="0"/>
              <a:t> is widely used in similar situations such as:</a:t>
            </a:r>
          </a:p>
          <a:p>
            <a:r>
              <a:rPr lang="en-US" sz="2000" b="0" dirty="0"/>
              <a:t> • Bank marketing campaign prediction</a:t>
            </a:r>
          </a:p>
          <a:p>
            <a:r>
              <a:rPr lang="en-US" sz="2000" b="0" dirty="0"/>
              <a:t> • Credit scoring and loan default prediction </a:t>
            </a:r>
          </a:p>
          <a:p>
            <a:r>
              <a:rPr lang="en-US" sz="2000" b="0" dirty="0"/>
              <a:t>• Customer churn analysis </a:t>
            </a:r>
          </a:p>
          <a:p>
            <a:r>
              <a:rPr lang="en-US" sz="2000" b="0" dirty="0"/>
              <a:t>• Kaggle and industry data science competitions</a:t>
            </a:r>
          </a:p>
          <a:p>
            <a:pPr marL="342900" indent="-342900">
              <a:buFont typeface="Wingdings" panose="05000000000000000000" pitchFamily="2" charset="2"/>
              <a:buChar char="v"/>
            </a:pPr>
            <a:r>
              <a:rPr lang="en-US" sz="2000" b="0" dirty="0"/>
              <a:t>Many studies and real-world banking systems report </a:t>
            </a:r>
            <a:r>
              <a:rPr lang="en-US" sz="2000" b="0" dirty="0" err="1"/>
              <a:t>XGBoost</a:t>
            </a:r>
            <a:r>
              <a:rPr lang="en-US" sz="2000" b="0" dirty="0"/>
              <a:t> as the top-performing model, which supports our decision to use it.</a:t>
            </a:r>
          </a:p>
        </p:txBody>
      </p:sp>
    </p:spTree>
    <p:extLst>
      <p:ext uri="{BB962C8B-B14F-4D97-AF65-F5344CB8AC3E}">
        <p14:creationId xmlns:p14="http://schemas.microsoft.com/office/powerpoint/2010/main" val="141879351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82EFC-6728-034B-6D0A-E6650351E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A7E4C-74B3-4753-DCD2-BA53F5E0A1B2}"/>
              </a:ext>
            </a:extLst>
          </p:cNvPr>
          <p:cNvSpPr>
            <a:spLocks noGrp="1"/>
          </p:cNvSpPr>
          <p:nvPr>
            <p:ph type="title"/>
          </p:nvPr>
        </p:nvSpPr>
        <p:spPr>
          <a:xfrm>
            <a:off x="5072032" y="757482"/>
            <a:ext cx="7119968" cy="1069848"/>
          </a:xfrm>
        </p:spPr>
        <p:txBody>
          <a:bodyPr/>
          <a:lstStyle/>
          <a:p>
            <a:r>
              <a:rPr lang="en-US" dirty="0">
                <a:effectLst>
                  <a:outerShdw blurRad="50800" dist="50800" dir="5400000" algn="ctr" rotWithShape="0">
                    <a:srgbClr val="6F22E3"/>
                  </a:outerShdw>
                </a:effectLst>
              </a:rPr>
              <a:t>Confusion matrix</a:t>
            </a:r>
          </a:p>
        </p:txBody>
      </p:sp>
      <p:pic>
        <p:nvPicPr>
          <p:cNvPr id="4" name="Picture 3">
            <a:extLst>
              <a:ext uri="{FF2B5EF4-FFF2-40B4-BE49-F238E27FC236}">
                <a16:creationId xmlns:a16="http://schemas.microsoft.com/office/drawing/2014/main" id="{5CF2E2A2-02DD-9BF4-60E9-D2E0E103C98A}"/>
              </a:ext>
            </a:extLst>
          </p:cNvPr>
          <p:cNvPicPr>
            <a:picLocks noChangeAspect="1"/>
          </p:cNvPicPr>
          <p:nvPr/>
        </p:nvPicPr>
        <p:blipFill>
          <a:blip r:embed="rId2"/>
          <a:stretch>
            <a:fillRect/>
          </a:stretch>
        </p:blipFill>
        <p:spPr>
          <a:xfrm>
            <a:off x="3205213" y="2512193"/>
            <a:ext cx="8762840" cy="4020125"/>
          </a:xfrm>
          <a:prstGeom prst="roundRect">
            <a:avLst>
              <a:gd name="adj" fmla="val 19935"/>
            </a:avLst>
          </a:prstGeom>
          <a:ln>
            <a:noFill/>
          </a:ln>
          <a:effectLst>
            <a:glow rad="228600">
              <a:schemeClr val="accent4">
                <a:satMod val="175000"/>
                <a:alpha val="40000"/>
              </a:schemeClr>
            </a:glow>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3813884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26E19-E5C0-EA64-C8DC-E4F727047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F864B-930A-1B02-76B1-CBCBA7E0704D}"/>
              </a:ext>
            </a:extLst>
          </p:cNvPr>
          <p:cNvSpPr>
            <a:spLocks noGrp="1"/>
          </p:cNvSpPr>
          <p:nvPr>
            <p:ph type="title"/>
          </p:nvPr>
        </p:nvSpPr>
        <p:spPr>
          <a:xfrm>
            <a:off x="2632202" y="378587"/>
            <a:ext cx="6927596" cy="687578"/>
          </a:xfrm>
        </p:spPr>
        <p:txBody>
          <a:bodyPr/>
          <a:lstStyle/>
          <a:p>
            <a:r>
              <a:rPr lang="en-US" dirty="0">
                <a:effectLst>
                  <a:outerShdw blurRad="50800" dist="50800" dir="5400000" algn="ctr" rotWithShape="0">
                    <a:srgbClr val="2F21F3"/>
                  </a:outerShdw>
                </a:effectLst>
              </a:rPr>
              <a:t>Scalability plot</a:t>
            </a:r>
            <a:endParaRPr lang="en-US" sz="4000" b="1" spc="600" dirty="0">
              <a:ln w="28575">
                <a:noFill/>
                <a:prstDash val="solid"/>
              </a:ln>
              <a:solidFill>
                <a:schemeClr val="bg1"/>
              </a:solidFill>
              <a:effectLst>
                <a:outerShdw blurRad="50800" dist="50800" dir="5400000" algn="ctr" rotWithShape="0">
                  <a:srgbClr val="2F21F3"/>
                </a:outerShdw>
              </a:effectLst>
              <a:latin typeface="Tw Cen MT" panose="020B0602020104020603" pitchFamily="34" charset="77"/>
            </a:endParaRPr>
          </a:p>
        </p:txBody>
      </p:sp>
      <p:sp>
        <p:nvSpPr>
          <p:cNvPr id="5" name="Slide Number Placeholder 4">
            <a:extLst>
              <a:ext uri="{FF2B5EF4-FFF2-40B4-BE49-F238E27FC236}">
                <a16:creationId xmlns:a16="http://schemas.microsoft.com/office/drawing/2014/main" id="{558BBCC3-942C-C0A4-02A6-011039D547EE}"/>
              </a:ext>
            </a:extLst>
          </p:cNvPr>
          <p:cNvSpPr>
            <a:spLocks noGrp="1"/>
          </p:cNvSpPr>
          <p:nvPr>
            <p:ph type="sldNum" sz="quarter" idx="11"/>
          </p:nvPr>
        </p:nvSpPr>
        <p:spPr/>
        <p:txBody>
          <a:bodyPr/>
          <a:lstStyle/>
          <a:p>
            <a:fld id="{294A09A9-5501-47C1-A89A-A340965A2BE2}" type="slidenum">
              <a:rPr lang="en-US" smtClean="0"/>
              <a:pPr/>
              <a:t>18</a:t>
            </a:fld>
            <a:endParaRPr lang="en-US" dirty="0"/>
          </a:p>
        </p:txBody>
      </p:sp>
      <p:pic>
        <p:nvPicPr>
          <p:cNvPr id="10" name="Picture 9">
            <a:extLst>
              <a:ext uri="{FF2B5EF4-FFF2-40B4-BE49-F238E27FC236}">
                <a16:creationId xmlns:a16="http://schemas.microsoft.com/office/drawing/2014/main" id="{7BB8018E-0E44-45EF-F61E-BDBC73551060}"/>
              </a:ext>
            </a:extLst>
          </p:cNvPr>
          <p:cNvPicPr>
            <a:picLocks noChangeAspect="1"/>
          </p:cNvPicPr>
          <p:nvPr/>
        </p:nvPicPr>
        <p:blipFill>
          <a:blip r:embed="rId3"/>
          <a:stretch>
            <a:fillRect/>
          </a:stretch>
        </p:blipFill>
        <p:spPr>
          <a:xfrm>
            <a:off x="6388100" y="1511300"/>
            <a:ext cx="5359400" cy="4484878"/>
          </a:xfrm>
          <a:prstGeom prst="rect">
            <a:avLst/>
          </a:prstGeom>
        </p:spPr>
      </p:pic>
      <p:pic>
        <p:nvPicPr>
          <p:cNvPr id="14" name="Picture 13">
            <a:extLst>
              <a:ext uri="{FF2B5EF4-FFF2-40B4-BE49-F238E27FC236}">
                <a16:creationId xmlns:a16="http://schemas.microsoft.com/office/drawing/2014/main" id="{AEE40769-61EC-05AE-A927-362E708E9439}"/>
              </a:ext>
            </a:extLst>
          </p:cNvPr>
          <p:cNvPicPr>
            <a:picLocks noChangeAspect="1"/>
          </p:cNvPicPr>
          <p:nvPr/>
        </p:nvPicPr>
        <p:blipFill>
          <a:blip r:embed="rId4"/>
          <a:stretch>
            <a:fillRect/>
          </a:stretch>
        </p:blipFill>
        <p:spPr>
          <a:xfrm>
            <a:off x="736600" y="1511300"/>
            <a:ext cx="5359400" cy="4484878"/>
          </a:xfrm>
          <a:prstGeom prst="rect">
            <a:avLst/>
          </a:prstGeom>
        </p:spPr>
      </p:pic>
    </p:spTree>
    <p:extLst>
      <p:ext uri="{BB962C8B-B14F-4D97-AF65-F5344CB8AC3E}">
        <p14:creationId xmlns:p14="http://schemas.microsoft.com/office/powerpoint/2010/main" val="322051387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10AF-0F08-54C3-FE39-EC52D4BE3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C3373-5104-8CD3-2CDB-0F096C87A482}"/>
              </a:ext>
            </a:extLst>
          </p:cNvPr>
          <p:cNvSpPr>
            <a:spLocks noGrp="1"/>
          </p:cNvSpPr>
          <p:nvPr>
            <p:ph type="title"/>
          </p:nvPr>
        </p:nvSpPr>
        <p:spPr>
          <a:xfrm>
            <a:off x="754380" y="786384"/>
            <a:ext cx="9573768" cy="1069848"/>
          </a:xfrm>
        </p:spPr>
        <p:txBody>
          <a:bodyPr/>
          <a:lstStyle/>
          <a:p>
            <a:r>
              <a:rPr lang="en-US" sz="3200" dirty="0">
                <a:effectLst>
                  <a:outerShdw blurRad="50800" dist="50800" dir="5400000" algn="ctr" rotWithShape="0">
                    <a:srgbClr val="6F22E3"/>
                  </a:outerShdw>
                </a:effectLst>
              </a:rPr>
              <a:t>fairness evaluation:</a:t>
            </a:r>
          </a:p>
        </p:txBody>
      </p:sp>
      <p:sp>
        <p:nvSpPr>
          <p:cNvPr id="8" name="Slide Number Placeholder 7">
            <a:extLst>
              <a:ext uri="{FF2B5EF4-FFF2-40B4-BE49-F238E27FC236}">
                <a16:creationId xmlns:a16="http://schemas.microsoft.com/office/drawing/2014/main" id="{12E6F709-ED64-F13B-6007-8DC3D07D866D}"/>
              </a:ext>
            </a:extLst>
          </p:cNvPr>
          <p:cNvSpPr>
            <a:spLocks noGrp="1"/>
          </p:cNvSpPr>
          <p:nvPr>
            <p:ph type="sldNum" sz="quarter" idx="12"/>
          </p:nvPr>
        </p:nvSpPr>
        <p:spPr/>
        <p:txBody>
          <a:bodyPr/>
          <a:lstStyle/>
          <a:p>
            <a:fld id="{294A09A9-5501-47C1-A89A-A340965A2BE2}" type="slidenum">
              <a:rPr lang="en-US" smtClean="0"/>
              <a:t>19</a:t>
            </a:fld>
            <a:endParaRPr lang="en-US" dirty="0"/>
          </a:p>
        </p:txBody>
      </p:sp>
      <p:graphicFrame>
        <p:nvGraphicFramePr>
          <p:cNvPr id="3" name="Table 2">
            <a:extLst>
              <a:ext uri="{FF2B5EF4-FFF2-40B4-BE49-F238E27FC236}">
                <a16:creationId xmlns:a16="http://schemas.microsoft.com/office/drawing/2014/main" id="{A319CB38-DC3C-9BB5-5646-74D897F78CFE}"/>
              </a:ext>
            </a:extLst>
          </p:cNvPr>
          <p:cNvGraphicFramePr>
            <a:graphicFrameLocks noGrp="1"/>
          </p:cNvGraphicFramePr>
          <p:nvPr>
            <p:extLst>
              <p:ext uri="{D42A27DB-BD31-4B8C-83A1-F6EECF244321}">
                <p14:modId xmlns:p14="http://schemas.microsoft.com/office/powerpoint/2010/main" val="3310096602"/>
              </p:ext>
            </p:extLst>
          </p:nvPr>
        </p:nvGraphicFramePr>
        <p:xfrm>
          <a:off x="2189988" y="2015909"/>
          <a:ext cx="8845550" cy="865461"/>
        </p:xfrm>
        <a:graphic>
          <a:graphicData uri="http://schemas.openxmlformats.org/drawingml/2006/table">
            <a:tbl>
              <a:tblPr firstRow="1" bandRow="1">
                <a:tableStyleId>{00A15C55-8517-42AA-B614-E9B94910E393}</a:tableStyleId>
              </a:tblPr>
              <a:tblGrid>
                <a:gridCol w="3152052">
                  <a:extLst>
                    <a:ext uri="{9D8B030D-6E8A-4147-A177-3AD203B41FA5}">
                      <a16:colId xmlns:a16="http://schemas.microsoft.com/office/drawing/2014/main" val="1761373647"/>
                    </a:ext>
                  </a:extLst>
                </a:gridCol>
                <a:gridCol w="3135550">
                  <a:extLst>
                    <a:ext uri="{9D8B030D-6E8A-4147-A177-3AD203B41FA5}">
                      <a16:colId xmlns:a16="http://schemas.microsoft.com/office/drawing/2014/main" val="881001544"/>
                    </a:ext>
                  </a:extLst>
                </a:gridCol>
                <a:gridCol w="2557948">
                  <a:extLst>
                    <a:ext uri="{9D8B030D-6E8A-4147-A177-3AD203B41FA5}">
                      <a16:colId xmlns:a16="http://schemas.microsoft.com/office/drawing/2014/main" val="507866058"/>
                    </a:ext>
                  </a:extLst>
                </a:gridCol>
              </a:tblGrid>
              <a:tr h="865461">
                <a:tc>
                  <a:txBody>
                    <a:bodyPr/>
                    <a:lstStyle/>
                    <a:p>
                      <a:pPr algn="ctr"/>
                      <a:r>
                        <a:rPr lang="en-US" sz="2400" dirty="0">
                          <a:solidFill>
                            <a:schemeClr val="accent6">
                              <a:lumMod val="25000"/>
                            </a:schemeClr>
                          </a:solidFill>
                          <a:latin typeface="Arial Black" panose="020B0A04020102020204" pitchFamily="34" charset="0"/>
                        </a:rPr>
                        <a:t>Logistic regression</a:t>
                      </a:r>
                    </a:p>
                  </a:txBody>
                  <a:tcPr/>
                </a:tc>
                <a:tc>
                  <a:txBody>
                    <a:bodyPr/>
                    <a:lstStyle/>
                    <a:p>
                      <a:pPr algn="ctr"/>
                      <a:r>
                        <a:rPr lang="en-US" sz="2400" dirty="0">
                          <a:solidFill>
                            <a:schemeClr val="accent6">
                              <a:lumMod val="25000"/>
                            </a:schemeClr>
                          </a:solidFill>
                          <a:latin typeface="Arial Black" panose="020B0A04020102020204" pitchFamily="34" charset="0"/>
                        </a:rPr>
                        <a:t>Random forest</a:t>
                      </a:r>
                    </a:p>
                  </a:txBody>
                  <a:tcPr/>
                </a:tc>
                <a:tc>
                  <a:txBody>
                    <a:bodyPr/>
                    <a:lstStyle/>
                    <a:p>
                      <a:pPr algn="ctr"/>
                      <a:r>
                        <a:rPr lang="en-US" sz="2400" dirty="0" err="1">
                          <a:solidFill>
                            <a:schemeClr val="accent6">
                              <a:lumMod val="25000"/>
                            </a:schemeClr>
                          </a:solidFill>
                          <a:latin typeface="Arial Black" panose="020B0A04020102020204" pitchFamily="34" charset="0"/>
                        </a:rPr>
                        <a:t>XGBoost</a:t>
                      </a:r>
                      <a:endParaRPr lang="en-US" sz="2400"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1636466281"/>
                  </a:ext>
                </a:extLst>
              </a:tr>
            </a:tbl>
          </a:graphicData>
        </a:graphic>
      </p:graphicFrame>
      <p:graphicFrame>
        <p:nvGraphicFramePr>
          <p:cNvPr id="5" name="Table 4">
            <a:extLst>
              <a:ext uri="{FF2B5EF4-FFF2-40B4-BE49-F238E27FC236}">
                <a16:creationId xmlns:a16="http://schemas.microsoft.com/office/drawing/2014/main" id="{A79308F4-AC62-E450-A792-4A7D5544B14F}"/>
              </a:ext>
            </a:extLst>
          </p:cNvPr>
          <p:cNvGraphicFramePr>
            <a:graphicFrameLocks noGrp="1"/>
          </p:cNvGraphicFramePr>
          <p:nvPr>
            <p:extLst>
              <p:ext uri="{D42A27DB-BD31-4B8C-83A1-F6EECF244321}">
                <p14:modId xmlns:p14="http://schemas.microsoft.com/office/powerpoint/2010/main" val="510476828"/>
              </p:ext>
            </p:extLst>
          </p:nvPr>
        </p:nvGraphicFramePr>
        <p:xfrm>
          <a:off x="932688" y="2881376"/>
          <a:ext cx="1257300" cy="3558888"/>
        </p:xfrm>
        <a:graphic>
          <a:graphicData uri="http://schemas.openxmlformats.org/drawingml/2006/table">
            <a:tbl>
              <a:tblPr firstRow="1" lastRow="1" bandRow="1">
                <a:tableStyleId>{00A15C55-8517-42AA-B614-E9B94910E393}</a:tableStyleId>
              </a:tblPr>
              <a:tblGrid>
                <a:gridCol w="1257300">
                  <a:extLst>
                    <a:ext uri="{9D8B030D-6E8A-4147-A177-3AD203B41FA5}">
                      <a16:colId xmlns:a16="http://schemas.microsoft.com/office/drawing/2014/main" val="3721274649"/>
                    </a:ext>
                  </a:extLst>
                </a:gridCol>
              </a:tblGrid>
              <a:tr h="1186296">
                <a:tc>
                  <a:txBody>
                    <a:bodyPr/>
                    <a:lstStyle/>
                    <a:p>
                      <a:r>
                        <a:rPr lang="en-US" sz="2800" b="0" dirty="0">
                          <a:solidFill>
                            <a:schemeClr val="accent6">
                              <a:lumMod val="25000"/>
                            </a:schemeClr>
                          </a:solidFill>
                          <a:latin typeface="Arial Black" panose="020B0A04020102020204" pitchFamily="34" charset="0"/>
                        </a:rPr>
                        <a:t>AGE &lt; 30</a:t>
                      </a:r>
                    </a:p>
                  </a:txBody>
                  <a:tcPr/>
                </a:tc>
                <a:extLst>
                  <a:ext uri="{0D108BD9-81ED-4DB2-BD59-A6C34878D82A}">
                    <a16:rowId xmlns:a16="http://schemas.microsoft.com/office/drawing/2014/main" val="358966114"/>
                  </a:ext>
                </a:extLst>
              </a:tr>
              <a:tr h="1186296">
                <a:tc>
                  <a:txBody>
                    <a:bodyPr/>
                    <a:lstStyle/>
                    <a:p>
                      <a:r>
                        <a:rPr lang="en-US" sz="2800" b="0" dirty="0">
                          <a:solidFill>
                            <a:schemeClr val="accent6">
                              <a:lumMod val="25000"/>
                            </a:schemeClr>
                          </a:solidFill>
                          <a:latin typeface="Arial Black" panose="020B0A04020102020204" pitchFamily="34" charset="0"/>
                        </a:rPr>
                        <a:t>AGE 30-55</a:t>
                      </a:r>
                    </a:p>
                  </a:txBody>
                  <a:tcPr/>
                </a:tc>
                <a:extLst>
                  <a:ext uri="{0D108BD9-81ED-4DB2-BD59-A6C34878D82A}">
                    <a16:rowId xmlns:a16="http://schemas.microsoft.com/office/drawing/2014/main" val="1433027414"/>
                  </a:ext>
                </a:extLst>
              </a:tr>
              <a:tr h="1186296">
                <a:tc>
                  <a:txBody>
                    <a:bodyPr/>
                    <a:lstStyle/>
                    <a:p>
                      <a:r>
                        <a:rPr lang="en-US" sz="2800" b="0" dirty="0">
                          <a:solidFill>
                            <a:schemeClr val="accent6">
                              <a:lumMod val="25000"/>
                            </a:schemeClr>
                          </a:solidFill>
                          <a:latin typeface="Arial Black" panose="020B0A04020102020204" pitchFamily="34" charset="0"/>
                        </a:rPr>
                        <a:t>AGE &gt; 55</a:t>
                      </a:r>
                    </a:p>
                  </a:txBody>
                  <a:tcPr/>
                </a:tc>
                <a:extLst>
                  <a:ext uri="{0D108BD9-81ED-4DB2-BD59-A6C34878D82A}">
                    <a16:rowId xmlns:a16="http://schemas.microsoft.com/office/drawing/2014/main" val="635062458"/>
                  </a:ext>
                </a:extLst>
              </a:tr>
            </a:tbl>
          </a:graphicData>
        </a:graphic>
      </p:graphicFrame>
      <p:graphicFrame>
        <p:nvGraphicFramePr>
          <p:cNvPr id="6" name="Table 5">
            <a:extLst>
              <a:ext uri="{FF2B5EF4-FFF2-40B4-BE49-F238E27FC236}">
                <a16:creationId xmlns:a16="http://schemas.microsoft.com/office/drawing/2014/main" id="{544DB779-921E-6593-2DB2-F5BBE0BB7F4F}"/>
              </a:ext>
            </a:extLst>
          </p:cNvPr>
          <p:cNvGraphicFramePr>
            <a:graphicFrameLocks noGrp="1"/>
          </p:cNvGraphicFramePr>
          <p:nvPr>
            <p:extLst>
              <p:ext uri="{D42A27DB-BD31-4B8C-83A1-F6EECF244321}">
                <p14:modId xmlns:p14="http://schemas.microsoft.com/office/powerpoint/2010/main" val="848284802"/>
              </p:ext>
            </p:extLst>
          </p:nvPr>
        </p:nvGraphicFramePr>
        <p:xfrm>
          <a:off x="3447288" y="2881370"/>
          <a:ext cx="7588250" cy="3558894"/>
        </p:xfrm>
        <a:graphic>
          <a:graphicData uri="http://schemas.openxmlformats.org/drawingml/2006/table">
            <a:tbl>
              <a:tblPr bandRow="1">
                <a:tableStyleId>{7DF18680-E054-41AD-8BC1-D1AEF772440D}</a:tableStyleId>
              </a:tblPr>
              <a:tblGrid>
                <a:gridCol w="2485431">
                  <a:extLst>
                    <a:ext uri="{9D8B030D-6E8A-4147-A177-3AD203B41FA5}">
                      <a16:colId xmlns:a16="http://schemas.microsoft.com/office/drawing/2014/main" val="2553977732"/>
                    </a:ext>
                  </a:extLst>
                </a:gridCol>
                <a:gridCol w="2318443">
                  <a:extLst>
                    <a:ext uri="{9D8B030D-6E8A-4147-A177-3AD203B41FA5}">
                      <a16:colId xmlns:a16="http://schemas.microsoft.com/office/drawing/2014/main" val="3518459017"/>
                    </a:ext>
                  </a:extLst>
                </a:gridCol>
                <a:gridCol w="2784376">
                  <a:extLst>
                    <a:ext uri="{9D8B030D-6E8A-4147-A177-3AD203B41FA5}">
                      <a16:colId xmlns:a16="http://schemas.microsoft.com/office/drawing/2014/main" val="2831073671"/>
                    </a:ext>
                  </a:extLst>
                </a:gridCol>
              </a:tblGrid>
              <a:tr h="548079">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0.847</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0.938</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0.947</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1413427147"/>
                  </a:ext>
                </a:extLst>
              </a:tr>
              <a:tr h="639623">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0.249                  (Count: 2266)</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0.203             (Count: 2266)</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0.144                              (Count: 2266)</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1223333743"/>
                  </a:ext>
                </a:extLst>
              </a:tr>
              <a:tr h="542496">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0.834</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0.919</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0.933</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1840850662"/>
                  </a:ext>
                </a:extLst>
              </a:tr>
              <a:tr h="639623">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0.176                     (Count: 11668)</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0.123             (Count: 11668)</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0.066                           (Count: 11668)</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2560846565"/>
                  </a:ext>
                </a:extLst>
              </a:tr>
              <a:tr h="548079">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0.860</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0.951</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0.940</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3077292017"/>
                  </a:ext>
                </a:extLst>
              </a:tr>
              <a:tr h="639623">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0.254                 (Count: 2035)</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0.232                (Count: 2035)</a:t>
                      </a:r>
                      <a:endParaRPr lang="en-US" b="1" dirty="0">
                        <a:solidFill>
                          <a:schemeClr val="accent6">
                            <a:lumMod val="25000"/>
                          </a:schemeClr>
                        </a:solidFill>
                        <a:latin typeface="Arial Black" panose="020B0A04020102020204" pitchFamily="34" charset="0"/>
                      </a:endParaRPr>
                    </a:p>
                  </a:txBody>
                  <a:tcPr/>
                </a:tc>
                <a:tc>
                  <a:txBody>
                    <a:bodyPr/>
                    <a:lstStyle/>
                    <a:p>
                      <a:pPr algn="ctr"/>
                      <a:r>
                        <a:rPr lang="en-US" sz="1800" b="1" i="0" kern="1200" dirty="0">
                          <a:solidFill>
                            <a:schemeClr val="accent6">
                              <a:lumMod val="25000"/>
                            </a:schemeClr>
                          </a:solidFill>
                          <a:effectLst/>
                          <a:latin typeface="Arial Black" panose="020B0A04020102020204" pitchFamily="34" charset="0"/>
                          <a:ea typeface="+mn-ea"/>
                          <a:cs typeface="+mn-cs"/>
                        </a:rPr>
                        <a:t>0.134                             (Count: 2035)</a:t>
                      </a:r>
                      <a:endParaRPr lang="en-US" b="1" dirty="0">
                        <a:solidFill>
                          <a:schemeClr val="accent6">
                            <a:lumMod val="25000"/>
                          </a:schemeClr>
                        </a:solidFill>
                        <a:latin typeface="Arial Black" panose="020B0A04020102020204" pitchFamily="34" charset="0"/>
                      </a:endParaRPr>
                    </a:p>
                  </a:txBody>
                  <a:tcPr/>
                </a:tc>
                <a:extLst>
                  <a:ext uri="{0D108BD9-81ED-4DB2-BD59-A6C34878D82A}">
                    <a16:rowId xmlns:a16="http://schemas.microsoft.com/office/drawing/2014/main" val="1987737047"/>
                  </a:ext>
                </a:extLst>
              </a:tr>
            </a:tbl>
          </a:graphicData>
        </a:graphic>
      </p:graphicFrame>
      <p:graphicFrame>
        <p:nvGraphicFramePr>
          <p:cNvPr id="7" name="Table 6">
            <a:extLst>
              <a:ext uri="{FF2B5EF4-FFF2-40B4-BE49-F238E27FC236}">
                <a16:creationId xmlns:a16="http://schemas.microsoft.com/office/drawing/2014/main" id="{ACCF9755-2B74-7DD4-3B2C-BECBA1B1AF1B}"/>
              </a:ext>
            </a:extLst>
          </p:cNvPr>
          <p:cNvGraphicFramePr>
            <a:graphicFrameLocks noGrp="1"/>
          </p:cNvGraphicFramePr>
          <p:nvPr>
            <p:extLst>
              <p:ext uri="{D42A27DB-BD31-4B8C-83A1-F6EECF244321}">
                <p14:modId xmlns:p14="http://schemas.microsoft.com/office/powerpoint/2010/main" val="270786155"/>
              </p:ext>
            </p:extLst>
          </p:nvPr>
        </p:nvGraphicFramePr>
        <p:xfrm>
          <a:off x="2189988" y="2881370"/>
          <a:ext cx="1257300" cy="3558894"/>
        </p:xfrm>
        <a:graphic>
          <a:graphicData uri="http://schemas.openxmlformats.org/drawingml/2006/table">
            <a:tbl>
              <a:tblPr bandRow="1">
                <a:tableStyleId>{7DF18680-E054-41AD-8BC1-D1AEF772440D}</a:tableStyleId>
              </a:tblPr>
              <a:tblGrid>
                <a:gridCol w="1257300">
                  <a:extLst>
                    <a:ext uri="{9D8B030D-6E8A-4147-A177-3AD203B41FA5}">
                      <a16:colId xmlns:a16="http://schemas.microsoft.com/office/drawing/2014/main" val="1841999414"/>
                    </a:ext>
                  </a:extLst>
                </a:gridCol>
              </a:tblGrid>
              <a:tr h="593149">
                <a:tc>
                  <a:txBody>
                    <a:bodyPr/>
                    <a:lstStyle/>
                    <a:p>
                      <a:pPr algn="ctr"/>
                      <a:r>
                        <a:rPr lang="en-US" sz="2000" b="1" dirty="0">
                          <a:solidFill>
                            <a:schemeClr val="accent3">
                              <a:lumMod val="25000"/>
                            </a:schemeClr>
                          </a:solidFill>
                          <a:latin typeface="Arial Black" panose="020B0A04020102020204" pitchFamily="34" charset="0"/>
                        </a:rPr>
                        <a:t>TPR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1F0FE"/>
                    </a:solidFill>
                  </a:tcPr>
                </a:tc>
                <a:extLst>
                  <a:ext uri="{0D108BD9-81ED-4DB2-BD59-A6C34878D82A}">
                    <a16:rowId xmlns:a16="http://schemas.microsoft.com/office/drawing/2014/main" val="1359928571"/>
                  </a:ext>
                </a:extLst>
              </a:tr>
              <a:tr h="593149">
                <a:tc>
                  <a:txBody>
                    <a:bodyPr/>
                    <a:lstStyle/>
                    <a:p>
                      <a:pPr algn="ctr"/>
                      <a:r>
                        <a:rPr lang="en-US" sz="2000" b="1" dirty="0">
                          <a:solidFill>
                            <a:schemeClr val="accent3">
                              <a:lumMod val="25000"/>
                            </a:schemeClr>
                          </a:solidFill>
                          <a:latin typeface="Arial Black" panose="020B0A04020102020204" pitchFamily="34" charset="0"/>
                        </a:rPr>
                        <a:t>FPR</a:t>
                      </a:r>
                    </a:p>
                  </a:txBody>
                  <a:tcPr>
                    <a:lnT w="12700" cap="flat" cmpd="sng" algn="ctr">
                      <a:noFill/>
                      <a:prstDash val="solid"/>
                      <a:round/>
                      <a:headEnd type="none" w="med" len="med"/>
                      <a:tailEnd type="none" w="med" len="med"/>
                    </a:lnT>
                    <a:solidFill>
                      <a:srgbClr val="E2E1FD"/>
                    </a:solidFill>
                  </a:tcPr>
                </a:tc>
                <a:extLst>
                  <a:ext uri="{0D108BD9-81ED-4DB2-BD59-A6C34878D82A}">
                    <a16:rowId xmlns:a16="http://schemas.microsoft.com/office/drawing/2014/main" val="690433557"/>
                  </a:ext>
                </a:extLst>
              </a:tr>
              <a:tr h="593149">
                <a:tc>
                  <a:txBody>
                    <a:bodyPr/>
                    <a:lstStyle/>
                    <a:p>
                      <a:pPr algn="ctr"/>
                      <a:r>
                        <a:rPr lang="en-US" sz="2000" b="1" dirty="0">
                          <a:solidFill>
                            <a:schemeClr val="accent3">
                              <a:lumMod val="25000"/>
                            </a:schemeClr>
                          </a:solidFill>
                          <a:latin typeface="Arial Black" panose="020B0A04020102020204" pitchFamily="34" charset="0"/>
                        </a:rPr>
                        <a:t>TPR</a:t>
                      </a:r>
                    </a:p>
                  </a:txBody>
                  <a:tcPr>
                    <a:solidFill>
                      <a:srgbClr val="F1F0FE"/>
                    </a:solidFill>
                  </a:tcPr>
                </a:tc>
                <a:extLst>
                  <a:ext uri="{0D108BD9-81ED-4DB2-BD59-A6C34878D82A}">
                    <a16:rowId xmlns:a16="http://schemas.microsoft.com/office/drawing/2014/main" val="3193522992"/>
                  </a:ext>
                </a:extLst>
              </a:tr>
              <a:tr h="593149">
                <a:tc>
                  <a:txBody>
                    <a:bodyPr/>
                    <a:lstStyle/>
                    <a:p>
                      <a:pPr algn="ctr"/>
                      <a:r>
                        <a:rPr lang="en-US" sz="2000" b="1" dirty="0">
                          <a:solidFill>
                            <a:schemeClr val="accent3">
                              <a:lumMod val="25000"/>
                            </a:schemeClr>
                          </a:solidFill>
                          <a:latin typeface="Arial Black" panose="020B0A04020102020204" pitchFamily="34" charset="0"/>
                        </a:rPr>
                        <a:t>FPR</a:t>
                      </a:r>
                    </a:p>
                  </a:txBody>
                  <a:tcPr>
                    <a:solidFill>
                      <a:srgbClr val="E2E1FD"/>
                    </a:solidFill>
                  </a:tcPr>
                </a:tc>
                <a:extLst>
                  <a:ext uri="{0D108BD9-81ED-4DB2-BD59-A6C34878D82A}">
                    <a16:rowId xmlns:a16="http://schemas.microsoft.com/office/drawing/2014/main" val="473267403"/>
                  </a:ext>
                </a:extLst>
              </a:tr>
              <a:tr h="593149">
                <a:tc>
                  <a:txBody>
                    <a:bodyPr/>
                    <a:lstStyle/>
                    <a:p>
                      <a:pPr algn="ctr"/>
                      <a:r>
                        <a:rPr lang="en-US" sz="2000" b="1" dirty="0">
                          <a:solidFill>
                            <a:schemeClr val="accent3">
                              <a:lumMod val="25000"/>
                            </a:schemeClr>
                          </a:solidFill>
                          <a:latin typeface="Arial Black" panose="020B0A04020102020204" pitchFamily="34" charset="0"/>
                        </a:rPr>
                        <a:t>TPR</a:t>
                      </a:r>
                    </a:p>
                  </a:txBody>
                  <a:tcPr>
                    <a:solidFill>
                      <a:srgbClr val="F1F0FE"/>
                    </a:solidFill>
                  </a:tcPr>
                </a:tc>
                <a:extLst>
                  <a:ext uri="{0D108BD9-81ED-4DB2-BD59-A6C34878D82A}">
                    <a16:rowId xmlns:a16="http://schemas.microsoft.com/office/drawing/2014/main" val="2464930814"/>
                  </a:ext>
                </a:extLst>
              </a:tr>
              <a:tr h="593149">
                <a:tc>
                  <a:txBody>
                    <a:bodyPr/>
                    <a:lstStyle/>
                    <a:p>
                      <a:pPr algn="ctr"/>
                      <a:r>
                        <a:rPr lang="en-US" sz="2000" b="1" dirty="0">
                          <a:solidFill>
                            <a:schemeClr val="accent3">
                              <a:lumMod val="25000"/>
                            </a:schemeClr>
                          </a:solidFill>
                          <a:latin typeface="Arial Black" panose="020B0A04020102020204" pitchFamily="34" charset="0"/>
                        </a:rPr>
                        <a:t>FPR</a:t>
                      </a:r>
                    </a:p>
                  </a:txBody>
                  <a:tcPr>
                    <a:solidFill>
                      <a:srgbClr val="E2E1FD"/>
                    </a:solidFill>
                  </a:tcPr>
                </a:tc>
                <a:extLst>
                  <a:ext uri="{0D108BD9-81ED-4DB2-BD59-A6C34878D82A}">
                    <a16:rowId xmlns:a16="http://schemas.microsoft.com/office/drawing/2014/main" val="3607850463"/>
                  </a:ext>
                </a:extLst>
              </a:tr>
            </a:tbl>
          </a:graphicData>
        </a:graphic>
      </p:graphicFrame>
    </p:spTree>
    <p:extLst>
      <p:ext uri="{BB962C8B-B14F-4D97-AF65-F5344CB8AC3E}">
        <p14:creationId xmlns:p14="http://schemas.microsoft.com/office/powerpoint/2010/main" val="23308564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a:xfrm>
            <a:off x="1868722" y="64454"/>
            <a:ext cx="8878824" cy="1315843"/>
          </a:xfrm>
        </p:spPr>
        <p:txBody>
          <a:bodyPr/>
          <a:lstStyle/>
          <a:p>
            <a:r>
              <a:rPr lang="en-US" dirty="0">
                <a:effectLst>
                  <a:outerShdw blurRad="50800" dist="50800" dir="5400000" algn="ctr" rotWithShape="0">
                    <a:srgbClr val="8822EE"/>
                  </a:outerShdw>
                </a:effectLst>
              </a:rPr>
              <a:t>Final Model Ranking, Insights &amp; Conclusion</a:t>
            </a:r>
          </a:p>
        </p:txBody>
      </p:sp>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20</a:t>
            </a:fld>
            <a:endParaRPr lang="en-US" dirty="0"/>
          </a:p>
        </p:txBody>
      </p:sp>
      <p:sp>
        <p:nvSpPr>
          <p:cNvPr id="3" name="Text Placeholder 2">
            <a:extLst>
              <a:ext uri="{FF2B5EF4-FFF2-40B4-BE49-F238E27FC236}">
                <a16:creationId xmlns:a16="http://schemas.microsoft.com/office/drawing/2014/main" id="{5830852F-3FB7-6D2E-F6AC-1F6B9CAD2158}"/>
              </a:ext>
            </a:extLst>
          </p:cNvPr>
          <p:cNvSpPr>
            <a:spLocks noGrp="1"/>
          </p:cNvSpPr>
          <p:nvPr>
            <p:ph type="body" idx="1"/>
          </p:nvPr>
        </p:nvSpPr>
        <p:spPr>
          <a:xfrm>
            <a:off x="850392" y="1849421"/>
            <a:ext cx="7455408" cy="1751383"/>
          </a:xfrm>
        </p:spPr>
        <p:txBody>
          <a:bodyPr/>
          <a:lstStyle/>
          <a:p>
            <a:pPr marL="457200" indent="-457200">
              <a:buFont typeface="+mj-lt"/>
              <a:buAutoNum type="arabicPeriod"/>
            </a:pPr>
            <a:r>
              <a:rPr lang="en-US" sz="3200" dirty="0">
                <a:effectLst>
                  <a:outerShdw blurRad="50800" dist="50800" dir="5400000" algn="ctr" rotWithShape="0">
                    <a:srgbClr val="BA20DB">
                      <a:alpha val="67000"/>
                    </a:srgbClr>
                  </a:outerShdw>
                </a:effectLst>
              </a:rPr>
              <a:t> </a:t>
            </a:r>
            <a:r>
              <a:rPr lang="en-US" sz="2800" dirty="0" err="1">
                <a:effectLst>
                  <a:outerShdw blurRad="50800" dist="50800" dir="5400000" algn="ctr" rotWithShape="0">
                    <a:srgbClr val="BA20DB">
                      <a:alpha val="67000"/>
                    </a:srgbClr>
                  </a:outerShdw>
                </a:effectLst>
              </a:rPr>
              <a:t>XGBoost</a:t>
            </a:r>
            <a:r>
              <a:rPr lang="en-US" sz="2800" dirty="0">
                <a:effectLst>
                  <a:outerShdw blurRad="50800" dist="50800" dir="5400000" algn="ctr" rotWithShape="0">
                    <a:srgbClr val="BA20DB">
                      <a:alpha val="67000"/>
                    </a:srgbClr>
                  </a:outerShdw>
                </a:effectLst>
              </a:rPr>
              <a:t> – Best overall performance</a:t>
            </a:r>
          </a:p>
          <a:p>
            <a:pPr marL="457200" indent="-457200">
              <a:buFont typeface="+mj-lt"/>
              <a:buAutoNum type="arabicPeriod"/>
            </a:pPr>
            <a:r>
              <a:rPr lang="en-US" sz="2800" dirty="0">
                <a:effectLst>
                  <a:outerShdw blurRad="50800" dist="50800" dir="5400000" algn="ctr" rotWithShape="0">
                    <a:srgbClr val="BA20DB">
                      <a:alpha val="67000"/>
                    </a:srgbClr>
                  </a:outerShdw>
                </a:effectLst>
              </a:rPr>
              <a:t> Random Forest – Strong and reliable</a:t>
            </a:r>
          </a:p>
          <a:p>
            <a:pPr marL="457200" indent="-457200">
              <a:buFont typeface="+mj-lt"/>
              <a:buAutoNum type="arabicPeriod"/>
            </a:pPr>
            <a:r>
              <a:rPr lang="en-US" sz="2800" dirty="0">
                <a:effectLst>
                  <a:outerShdw blurRad="50800" dist="50800" dir="5400000" algn="ctr" rotWithShape="0">
                    <a:srgbClr val="BA20DB">
                      <a:alpha val="67000"/>
                    </a:srgbClr>
                  </a:outerShdw>
                </a:effectLst>
              </a:rPr>
              <a:t>Logistic Regression – Simple and interpretable</a:t>
            </a:r>
          </a:p>
          <a:p>
            <a:endParaRPr lang="en-US" dirty="0"/>
          </a:p>
        </p:txBody>
      </p:sp>
      <p:sp>
        <p:nvSpPr>
          <p:cNvPr id="12" name="Text Placeholder 11">
            <a:extLst>
              <a:ext uri="{FF2B5EF4-FFF2-40B4-BE49-F238E27FC236}">
                <a16:creationId xmlns:a16="http://schemas.microsoft.com/office/drawing/2014/main" id="{5E68EFF0-69C3-F9AE-1107-E08A22BCF938}"/>
              </a:ext>
            </a:extLst>
          </p:cNvPr>
          <p:cNvSpPr>
            <a:spLocks noGrp="1"/>
          </p:cNvSpPr>
          <p:nvPr>
            <p:ph type="body" sz="quarter" idx="13"/>
          </p:nvPr>
        </p:nvSpPr>
        <p:spPr>
          <a:xfrm>
            <a:off x="850392" y="3751290"/>
            <a:ext cx="10750550" cy="2520177"/>
          </a:xfrm>
        </p:spPr>
        <p:txBody>
          <a:bodyPr/>
          <a:lstStyle/>
          <a:p>
            <a:pPr marL="342900" indent="-342900">
              <a:buFont typeface="Wingdings" panose="05000000000000000000" pitchFamily="2" charset="2"/>
              <a:buChar char="q"/>
            </a:pPr>
            <a:r>
              <a:rPr lang="en-US" dirty="0">
                <a:effectLst>
                  <a:outerShdw blurRad="50800" dist="50800" dir="5400000" algn="ctr" rotWithShape="0">
                    <a:srgbClr val="BA20DB">
                      <a:alpha val="61000"/>
                    </a:srgbClr>
                  </a:outerShdw>
                </a:effectLst>
              </a:rPr>
              <a:t>Business Understanding &amp; Impact:</a:t>
            </a:r>
          </a:p>
          <a:p>
            <a:pPr marL="342900" indent="-342900">
              <a:buFont typeface="Courier New" panose="02070309020205020404" pitchFamily="49" charset="0"/>
              <a:buChar char="o"/>
            </a:pPr>
            <a:r>
              <a:rPr lang="en-US" dirty="0">
                <a:effectLst>
                  <a:outerShdw blurRad="50800" dist="50800" dir="5400000" algn="ctr" rotWithShape="0">
                    <a:srgbClr val="BA20DB">
                      <a:alpha val="61000"/>
                    </a:srgbClr>
                  </a:outerShdw>
                </a:effectLst>
              </a:rPr>
              <a:t>By using </a:t>
            </a:r>
            <a:r>
              <a:rPr lang="en-US" dirty="0" err="1">
                <a:effectLst>
                  <a:outerShdw blurRad="50800" dist="50800" dir="5400000" algn="ctr" rotWithShape="0">
                    <a:srgbClr val="BA20DB">
                      <a:alpha val="61000"/>
                    </a:srgbClr>
                  </a:outerShdw>
                </a:effectLst>
              </a:rPr>
              <a:t>XGBoost</a:t>
            </a:r>
            <a:r>
              <a:rPr lang="en-US" dirty="0">
                <a:effectLst>
                  <a:outerShdw blurRad="50800" dist="50800" dir="5400000" algn="ctr" rotWithShape="0">
                    <a:srgbClr val="BA20DB">
                      <a:alpha val="61000"/>
                    </a:srgbClr>
                  </a:outerShdw>
                </a:effectLst>
              </a:rPr>
              <a:t>, the bank can focus its calls on customers who are most likely to subscribe, which: </a:t>
            </a:r>
          </a:p>
          <a:p>
            <a:r>
              <a:rPr lang="en-US" dirty="0">
                <a:effectLst>
                  <a:outerShdw blurRad="50800" dist="50800" dir="5400000" algn="ctr" rotWithShape="0">
                    <a:srgbClr val="BA20DB">
                      <a:alpha val="61000"/>
                    </a:srgbClr>
                  </a:outerShdw>
                </a:effectLst>
              </a:rPr>
              <a:t>• Reduces marketing costs</a:t>
            </a:r>
            <a:br>
              <a:rPr lang="en-US" dirty="0">
                <a:effectLst>
                  <a:outerShdw blurRad="50800" dist="50800" dir="5400000" algn="ctr" rotWithShape="0">
                    <a:srgbClr val="BA20DB">
                      <a:alpha val="61000"/>
                    </a:srgbClr>
                  </a:outerShdw>
                </a:effectLst>
              </a:rPr>
            </a:br>
            <a:r>
              <a:rPr lang="en-US" dirty="0">
                <a:effectLst>
                  <a:outerShdw blurRad="50800" dist="50800" dir="5400000" algn="ctr" rotWithShape="0">
                    <a:srgbClr val="BA20DB">
                      <a:alpha val="61000"/>
                    </a:srgbClr>
                  </a:outerShdw>
                </a:effectLst>
              </a:rPr>
              <a:t>• Improves customer satisfaction by avoiding unnecessary calls</a:t>
            </a:r>
            <a:br>
              <a:rPr lang="en-US" dirty="0">
                <a:effectLst>
                  <a:outerShdw blurRad="50800" dist="50800" dir="5400000" algn="ctr" rotWithShape="0">
                    <a:srgbClr val="BA20DB">
                      <a:alpha val="61000"/>
                    </a:srgbClr>
                  </a:outerShdw>
                </a:effectLst>
              </a:rPr>
            </a:br>
            <a:r>
              <a:rPr lang="en-US" dirty="0">
                <a:effectLst>
                  <a:outerShdw blurRad="50800" dist="50800" dir="5400000" algn="ctr" rotWithShape="0">
                    <a:srgbClr val="BA20DB">
                      <a:alpha val="61000"/>
                    </a:srgbClr>
                  </a:outerShdw>
                </a:effectLst>
              </a:rPr>
              <a:t>• Increases the success rate of campaigns</a:t>
            </a:r>
            <a:br>
              <a:rPr lang="en-US" dirty="0">
                <a:effectLst>
                  <a:outerShdw blurRad="50800" dist="50800" dir="5400000" algn="ctr" rotWithShape="0">
                    <a:srgbClr val="BA20DB">
                      <a:alpha val="61000"/>
                    </a:srgbClr>
                  </a:outerShdw>
                </a:effectLst>
              </a:rPr>
            </a:br>
            <a:r>
              <a:rPr lang="en-US" dirty="0">
                <a:effectLst>
                  <a:outerShdw blurRad="50800" dist="50800" dir="5400000" algn="ctr" rotWithShape="0">
                    <a:srgbClr val="BA20DB">
                      <a:alpha val="61000"/>
                    </a:srgbClr>
                  </a:outerShdw>
                </a:effectLst>
              </a:rPr>
              <a:t>• Supports data-driven decision making</a:t>
            </a:r>
          </a:p>
        </p:txBody>
      </p:sp>
    </p:spTree>
    <p:extLst>
      <p:ext uri="{BB962C8B-B14F-4D97-AF65-F5344CB8AC3E}">
        <p14:creationId xmlns:p14="http://schemas.microsoft.com/office/powerpoint/2010/main" val="1877080978"/>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a:xfrm>
            <a:off x="2228088" y="2157983"/>
            <a:ext cx="7735824" cy="1069848"/>
          </a:xfrm>
        </p:spPr>
        <p:txBody>
          <a:bodyPr/>
          <a:lstStyle/>
          <a:p>
            <a:r>
              <a:rPr lang="en-US" sz="4000" b="1" spc="600" dirty="0">
                <a:ln w="28575">
                  <a:noFill/>
                  <a:prstDash val="solid"/>
                </a:ln>
                <a:solidFill>
                  <a:schemeClr val="bg1"/>
                </a:solidFill>
                <a:effectLst>
                  <a:outerShdw blurRad="50800" dist="50800" dir="5400000" algn="ctr" rotWithShape="0">
                    <a:schemeClr val="accent2">
                      <a:lumMod val="75000"/>
                      <a:alpha val="73000"/>
                    </a:schemeClr>
                  </a:outerShdw>
                </a:effectLst>
                <a:latin typeface="Tw Cen MT" panose="020B0602020104020603" pitchFamily="34" charset="77"/>
                <a:ea typeface="Verdana" panose="020B0604030504040204" pitchFamily="34" charset="0"/>
                <a:cs typeface="Verdana" panose="020B0604030504040204" pitchFamily="34" charset="0"/>
              </a:rPr>
              <a:t>SUMMARY</a:t>
            </a:r>
            <a:endParaRPr lang="en-US" dirty="0">
              <a:effectLst>
                <a:outerShdw blurRad="50800" dist="50800" dir="5400000" algn="ctr" rotWithShape="0">
                  <a:schemeClr val="accent2">
                    <a:lumMod val="75000"/>
                    <a:alpha val="73000"/>
                  </a:schemeClr>
                </a:outerShdw>
              </a:effectLst>
            </a:endParaRPr>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a:xfrm>
            <a:off x="2228088" y="3553969"/>
            <a:ext cx="7735824" cy="2286000"/>
          </a:xfrm>
        </p:spPr>
        <p:txBody>
          <a:bodyPr/>
          <a:lstStyle/>
          <a:p>
            <a:r>
              <a:rPr lang="en-US" sz="2400" b="1" dirty="0">
                <a:effectLst>
                  <a:outerShdw blurRad="50800" dist="50800" dir="5400000" algn="ctr" rotWithShape="0">
                    <a:srgbClr val="00B0F0">
                      <a:alpha val="45000"/>
                    </a:srgbClr>
                  </a:outerShdw>
                </a:effectLst>
                <a:latin typeface="Aptos Display" panose="020B0004020202020204" pitchFamily="34" charset="0"/>
              </a:rPr>
              <a:t>This project demonstrates a strong understanding of both machine learning concepts and real business problems. Through thoughtful preprocessing, balancing, and model selection, raw marketing data was transformed into meaningful insights that support smarter and more efficient banking decisions.</a:t>
            </a:r>
            <a:r>
              <a:rPr lang="en-US" sz="2400" b="1" dirty="0">
                <a:solidFill>
                  <a:schemeClr val="bg1"/>
                </a:solidFill>
                <a:effectLst>
                  <a:outerShdw blurRad="50800" dist="50800" dir="5400000" algn="ctr" rotWithShape="0">
                    <a:srgbClr val="00B0F0">
                      <a:alpha val="45000"/>
                    </a:srgbClr>
                  </a:outerShdw>
                </a:effectLst>
                <a:latin typeface="Aptos Display" panose="020B0004020202020204" pitchFamily="34" charset="0"/>
                <a:ea typeface="+mn-lt"/>
                <a:cs typeface="Segoe UI Light" panose="020B0502040204020203" pitchFamily="34" charset="0"/>
              </a:rPr>
              <a:t>."</a:t>
            </a:r>
          </a:p>
          <a:p>
            <a:endParaRPr lang="en-US" dirty="0"/>
          </a:p>
        </p:txBody>
      </p:sp>
    </p:spTree>
    <p:extLst>
      <p:ext uri="{BB962C8B-B14F-4D97-AF65-F5344CB8AC3E}">
        <p14:creationId xmlns:p14="http://schemas.microsoft.com/office/powerpoint/2010/main" val="195875962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effectLst>
                  <a:outerShdw blurRad="50800" dist="50800" dir="5400000" algn="ctr" rotWithShape="0">
                    <a:srgbClr val="6F22E3"/>
                  </a:outerShdw>
                </a:effectLst>
                <a:latin typeface="Tw Cen MT" panose="020B0602020104020603" pitchFamily="34" charset="77"/>
              </a:rPr>
              <a:t>THANK YOU</a:t>
            </a:r>
            <a:endParaRPr lang="en-US" dirty="0">
              <a:effectLst>
                <a:outerShdw blurRad="50800" dist="50800" dir="5400000" algn="ctr" rotWithShape="0">
                  <a:srgbClr val="6F22E3"/>
                </a:outerShdw>
              </a:effectLst>
            </a:endParaRPr>
          </a:p>
        </p:txBody>
      </p:sp>
    </p:spTree>
    <p:extLst>
      <p:ext uri="{BB962C8B-B14F-4D97-AF65-F5344CB8AC3E}">
        <p14:creationId xmlns:p14="http://schemas.microsoft.com/office/powerpoint/2010/main" val="1877701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351</TotalTime>
  <Words>978</Words>
  <Application>Microsoft Office PowerPoint</Application>
  <PresentationFormat>Widescreen</PresentationFormat>
  <Paragraphs>212</Paragraphs>
  <Slides>22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Aptos</vt:lpstr>
      <vt:lpstr>Aptos Display</vt:lpstr>
      <vt:lpstr>Arial</vt:lpstr>
      <vt:lpstr>Arial Black</vt:lpstr>
      <vt:lpstr>Calibri</vt:lpstr>
      <vt:lpstr>Courier New</vt:lpstr>
      <vt:lpstr>Segoe UI Light</vt:lpstr>
      <vt:lpstr>Tw Cen MT</vt:lpstr>
      <vt:lpstr>Wingdings</vt:lpstr>
      <vt:lpstr>Office Theme</vt:lpstr>
      <vt:lpstr>Bank marketing campaign analysis</vt:lpstr>
      <vt:lpstr>CONTENTS</vt:lpstr>
      <vt:lpstr>INTRODUCTION</vt:lpstr>
      <vt:lpstr>Objective &amp; Goal</vt:lpstr>
      <vt:lpstr>Dataset overview</vt:lpstr>
      <vt:lpstr>Target variable</vt:lpstr>
      <vt:lpstr>Data preprocessing</vt:lpstr>
      <vt:lpstr>Dataset Balancing</vt:lpstr>
      <vt:lpstr>Three classification algorithms were implemented , trained and tested on the same balanced dataset for fair comparison.   </vt:lpstr>
      <vt:lpstr>Algorithms Used:</vt:lpstr>
      <vt:lpstr>Model Accuracy Results:</vt:lpstr>
      <vt:lpstr>PowerPoint Presentation</vt:lpstr>
      <vt:lpstr>Model complexity analysis</vt:lpstr>
      <vt:lpstr>Model Evaluation Metrics</vt:lpstr>
      <vt:lpstr>Summary table:</vt:lpstr>
      <vt:lpstr>Why XGBoost Is the Best Choice?</vt:lpstr>
      <vt:lpstr>Confusion matrix</vt:lpstr>
      <vt:lpstr>Scalability plot</vt:lpstr>
      <vt:lpstr>fairness evaluation:</vt:lpstr>
      <vt:lpstr>Final Model Ranking, Insights &amp; Conclusion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sandra waheed</dc:creator>
  <cp:lastModifiedBy>sandra waheed</cp:lastModifiedBy>
  <cp:revision>7</cp:revision>
  <dcterms:created xsi:type="dcterms:W3CDTF">2025-12-14T22:08:14Z</dcterms:created>
  <dcterms:modified xsi:type="dcterms:W3CDTF">2025-12-22T16:34:30Z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